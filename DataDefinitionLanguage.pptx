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4"/>
  </p:sldMasterIdLst>
  <p:notesMasterIdLst>
    <p:notesMasterId r:id="rId33"/>
  </p:notesMasterIdLst>
  <p:sldIdLst>
    <p:sldId id="258" r:id="rId5"/>
    <p:sldId id="330" r:id="rId6"/>
    <p:sldId id="335" r:id="rId7"/>
    <p:sldId id="336" r:id="rId8"/>
    <p:sldId id="269" r:id="rId9"/>
    <p:sldId id="331" r:id="rId10"/>
    <p:sldId id="362" r:id="rId11"/>
    <p:sldId id="354" r:id="rId12"/>
    <p:sldId id="274" r:id="rId13"/>
    <p:sldId id="360" r:id="rId14"/>
    <p:sldId id="363" r:id="rId15"/>
    <p:sldId id="344" r:id="rId16"/>
    <p:sldId id="316" r:id="rId17"/>
    <p:sldId id="318" r:id="rId18"/>
    <p:sldId id="319" r:id="rId19"/>
    <p:sldId id="320" r:id="rId20"/>
    <p:sldId id="347" r:id="rId21"/>
    <p:sldId id="321" r:id="rId22"/>
    <p:sldId id="355" r:id="rId23"/>
    <p:sldId id="322" r:id="rId24"/>
    <p:sldId id="323" r:id="rId25"/>
    <p:sldId id="364" r:id="rId26"/>
    <p:sldId id="356" r:id="rId27"/>
    <p:sldId id="357" r:id="rId28"/>
    <p:sldId id="273" r:id="rId29"/>
    <p:sldId id="361" r:id="rId30"/>
    <p:sldId id="313" r:id="rId31"/>
    <p:sldId id="345" r:id="rId3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750D"/>
    <a:srgbClr val="000000"/>
    <a:srgbClr val="287094"/>
    <a:srgbClr val="095295"/>
    <a:srgbClr val="90B5D2"/>
    <a:srgbClr val="209D03"/>
    <a:srgbClr val="3BCB01"/>
    <a:srgbClr val="2D9F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45" autoAdjust="0"/>
    <p:restoredTop sz="73445" autoAdjust="0"/>
  </p:normalViewPr>
  <p:slideViewPr>
    <p:cSldViewPr>
      <p:cViewPr varScale="1">
        <p:scale>
          <a:sx n="147" d="100"/>
          <a:sy n="147" d="100"/>
        </p:scale>
        <p:origin x="266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85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b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6" tIns="48318" rIns="96636" bIns="48318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 smtClean="0"/>
            </a:lvl1pPr>
          </a:lstStyle>
          <a:p>
            <a:pPr>
              <a:defRPr/>
            </a:pPr>
            <a:fld id="{E9DCC5A7-E6B4-43F7-90B3-FE4128ADA79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4068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  <a:p>
            <a:endParaRPr lang="en-US" dirty="0"/>
          </a:p>
          <a:p>
            <a:r>
              <a:rPr lang="en-US" dirty="0"/>
              <a:t>Data</a:t>
            </a:r>
            <a:r>
              <a:rPr lang="en-US" baseline="0" dirty="0"/>
              <a:t> definition language (DDL) presented in this session help you learn why, when and how to use the DDL statements to create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623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94609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altLang="en-US" sz="1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3843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183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DDL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refers to "Data Definition Language",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 subset of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SQL statements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that change the structure of the database schema in some way, typically by creating, deleting, or modifying schema objects such as databases, tables, and views. 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DDL statements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start with the keywords CREATE , DROP , or ALTER .</a:t>
            </a:r>
          </a:p>
          <a:p>
            <a:endParaRPr lang="en-IN" sz="1200" b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14780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3780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200" dirty="0"/>
              <a:t>Name database tables and columns according to the standard rules for naming any Oracle database object:</a:t>
            </a:r>
          </a:p>
          <a:p>
            <a:pPr lvl="1">
              <a:lnSpc>
                <a:spcPct val="90000"/>
              </a:lnSpc>
            </a:pPr>
            <a:endParaRPr lang="en-US" altLang="en-US" sz="1200" dirty="0"/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Table names and column names must begin with a letter and can be 1–30 characters long</a:t>
            </a:r>
          </a:p>
          <a:p>
            <a:pPr lvl="1">
              <a:lnSpc>
                <a:spcPct val="90000"/>
              </a:lnSpc>
            </a:pPr>
            <a:endParaRPr lang="en-US" altLang="en-US" sz="1200" dirty="0"/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Names must contain </a:t>
            </a:r>
          </a:p>
          <a:p>
            <a:pPr lvl="4">
              <a:lnSpc>
                <a:spcPct val="90000"/>
              </a:lnSpc>
            </a:pPr>
            <a:r>
              <a:rPr lang="en-US" altLang="en-US" sz="1200" dirty="0"/>
              <a:t>only the characters A–Z, a–z, 0–9, _ (underscore)</a:t>
            </a:r>
          </a:p>
          <a:p>
            <a:pPr lvl="4">
              <a:lnSpc>
                <a:spcPct val="90000"/>
              </a:lnSpc>
            </a:pPr>
            <a:r>
              <a:rPr lang="en-US" altLang="en-US" sz="1200" dirty="0"/>
              <a:t>$, and # (legal characters, but their use is discouraged)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Names must not be an Oracle server reserved 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77734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dirty="0">
                <a:effectLst/>
              </a:rPr>
              <a:t>Datatypes</a:t>
            </a:r>
          </a:p>
          <a:p>
            <a:pPr rtl="0"/>
            <a:r>
              <a:rPr lang="en-US" sz="1200" dirty="0">
                <a:effectLst/>
              </a:rPr>
              <a:t>Each column value and constant in a SQL statement has a datatype, which is associated with a specific storage format, constraints, and a valid range of values. </a:t>
            </a:r>
          </a:p>
          <a:p>
            <a:pPr rtl="0"/>
            <a:r>
              <a:rPr lang="en-US" sz="1200" dirty="0">
                <a:effectLst/>
              </a:rPr>
              <a:t>When you create a table, you must specify a datatype for each of its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31936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5537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9171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2825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200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Constraints are rules enforced at the table or</a:t>
            </a:r>
            <a:r>
              <a:rPr lang="en-US" altLang="en-US" sz="1200" baseline="0" dirty="0">
                <a:solidFill>
                  <a:schemeClr val="bg1"/>
                </a:solidFill>
              </a:rPr>
              <a:t> column </a:t>
            </a:r>
            <a:r>
              <a:rPr lang="en-US" altLang="en-US" sz="1200" dirty="0">
                <a:solidFill>
                  <a:schemeClr val="bg1"/>
                </a:solidFill>
              </a:rPr>
              <a:t>level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Enforce rules on the data in a table whenever a row is inserted, updated or deleted from table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Prevents deletion of a table if there are dependencies from other tables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8702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 CONSTRAINT can be one of the following:</a:t>
            </a:r>
          </a:p>
          <a:p>
            <a:endParaRPr lang="en-US" b="1" dirty="0"/>
          </a:p>
          <a:p>
            <a:r>
              <a:rPr lang="en-US" b="1" dirty="0"/>
              <a:t>Column-level constraint </a:t>
            </a:r>
            <a:r>
              <a:rPr lang="en-US" dirty="0"/>
              <a:t>Column-level constraints refer to a single column in the table and do not specify a column name (except check constraints). They refer to the column that they follow.</a:t>
            </a:r>
          </a:p>
          <a:p>
            <a:endParaRPr lang="en-US" b="1" dirty="0"/>
          </a:p>
          <a:p>
            <a:r>
              <a:rPr lang="en-US" b="1" dirty="0"/>
              <a:t>Table-level constraint </a:t>
            </a:r>
            <a:r>
              <a:rPr lang="en-US" dirty="0"/>
              <a:t>Table-level constraints refer to one or more columns in the table. Table-level constraints specify the names of the columns to which they apply. Table-level CHECK constraints can refer to 0 or more columns in the table.</a:t>
            </a:r>
          </a:p>
          <a:p>
            <a:endParaRPr lang="en-US" b="1" dirty="0"/>
          </a:p>
          <a:p>
            <a:r>
              <a:rPr lang="en-US" b="1" dirty="0"/>
              <a:t>Column constraints include: </a:t>
            </a:r>
          </a:p>
          <a:p>
            <a:endParaRPr lang="en-US" b="1" dirty="0"/>
          </a:p>
          <a:p>
            <a:r>
              <a:rPr lang="en-US" dirty="0"/>
              <a:t>NOT NULL Specifies that this column cannot hold NULL values (constraints of this type are not nameable).</a:t>
            </a:r>
          </a:p>
          <a:p>
            <a:endParaRPr lang="en-US" dirty="0"/>
          </a:p>
          <a:p>
            <a:r>
              <a:rPr lang="en-US" dirty="0"/>
              <a:t>PRIMARY KEY Specifies the column that uniquely identifies a row in the table. The identified columns must be defined as NOT NULL.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UNIQUE Specifies that values in the column must be unique.</a:t>
            </a:r>
          </a:p>
          <a:p>
            <a:endParaRPr lang="en-US" dirty="0"/>
          </a:p>
          <a:p>
            <a:r>
              <a:rPr lang="en-US" dirty="0"/>
              <a:t>FOREIGN KEY Specifies that the values in the column must correspond to values in a referenced primary key or unique key column or that they are NULL.</a:t>
            </a:r>
          </a:p>
          <a:p>
            <a:endParaRPr lang="en-US" dirty="0"/>
          </a:p>
          <a:p>
            <a:r>
              <a:rPr lang="en-US" dirty="0"/>
              <a:t>CHECK Specifies rules for values in the column.</a:t>
            </a:r>
          </a:p>
          <a:p>
            <a:endParaRPr lang="en-US" dirty="0"/>
          </a:p>
          <a:p>
            <a:r>
              <a:rPr lang="en-US" b="1" dirty="0"/>
              <a:t>Table constraints include: </a:t>
            </a:r>
          </a:p>
          <a:p>
            <a:endParaRPr lang="en-US" dirty="0"/>
          </a:p>
          <a:p>
            <a:r>
              <a:rPr lang="en-US" dirty="0"/>
              <a:t>PRIMARY KEY Specifies the column or columns that uniquely identify a row in the table. NULL values are not allowed.</a:t>
            </a:r>
          </a:p>
          <a:p>
            <a:endParaRPr lang="en-US" dirty="0"/>
          </a:p>
          <a:p>
            <a:r>
              <a:rPr lang="en-US" dirty="0"/>
              <a:t>UNIQUE Specifies that values in the columns must be unique.</a:t>
            </a:r>
          </a:p>
          <a:p>
            <a:endParaRPr lang="en-US" dirty="0"/>
          </a:p>
          <a:p>
            <a:r>
              <a:rPr lang="en-US" dirty="0"/>
              <a:t>FOREIGN KEY Specifies that the values in the columns must correspond to values in referenced primary key or unique columns or that they are NULL.</a:t>
            </a:r>
          </a:p>
          <a:p>
            <a:endParaRPr lang="en-US" dirty="0"/>
          </a:p>
          <a:p>
            <a:r>
              <a:rPr lang="en-US" dirty="0"/>
              <a:t>Note: If the foreign key consists of multiple columns, and </a:t>
            </a:r>
            <a:r>
              <a:rPr lang="en-US" i="1" dirty="0"/>
              <a:t>any</a:t>
            </a:r>
            <a:r>
              <a:rPr lang="en-US" dirty="0"/>
              <a:t> column is NULL, the whole key is considered NULL. The insert is permitted no matter what is on the non-null columns.</a:t>
            </a:r>
          </a:p>
          <a:p>
            <a:endParaRPr lang="en-US" dirty="0"/>
          </a:p>
          <a:p>
            <a:r>
              <a:rPr lang="en-US" dirty="0"/>
              <a:t>CHECK Specifies a wide range of rules for values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1536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Not Null (NN)</a:t>
            </a:r>
          </a:p>
          <a:p>
            <a:r>
              <a:rPr lang="en-US" dirty="0">
                <a:effectLst/>
              </a:rPr>
              <a:t>In Oracle, the Not Null constraint ensures that the column contains no NULL values.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syntax used for defining a Not Null constraint is as follows: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column_name column_DataType [DEFAULT value] [CONSTRAINT constraint_name] NOT NULL,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This constraint can only be defined at the column level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3117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UNIQUE (UQ)</a:t>
            </a:r>
          </a:p>
          <a:p>
            <a:r>
              <a:rPr lang="en-US" dirty="0">
                <a:effectLst/>
              </a:rPr>
              <a:t>In Oracle, the Unique constraint requires that every value in a column (or set of columns) be unique.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syntax used for defining a UNIQUE Constraint is as follows: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column_name column_DataType [DEFAULT value] [CONSTRAINT constraint_name] UNIQUE,</a:t>
            </a:r>
          </a:p>
          <a:p>
            <a:r>
              <a:rPr lang="en-US" dirty="0">
                <a:effectLst/>
              </a:rPr>
              <a:t>For 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3196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</a:t>
            </a:r>
            <a:r>
              <a:rPr lang="en-US" b="0" baseline="0" dirty="0"/>
              <a:t> </a:t>
            </a:r>
            <a:r>
              <a:rPr lang="en-US" b="1" dirty="0"/>
              <a:t>primary key</a:t>
            </a:r>
            <a:r>
              <a:rPr lang="en-US" dirty="0"/>
              <a:t> is a single field or combination of fields that uniquely defines a record. None of the fields that are part of the primary key can contain a null value. A table can have only one primary key.</a:t>
            </a:r>
          </a:p>
          <a:p>
            <a:endParaRPr lang="en-US" dirty="0"/>
          </a:p>
          <a:p>
            <a:r>
              <a:rPr lang="en-US" b="1" dirty="0"/>
              <a:t>Note</a:t>
            </a:r>
          </a:p>
          <a:p>
            <a:r>
              <a:rPr lang="en-US" dirty="0"/>
              <a:t>In Oracle, a primary key can not contain more than 32 columns.</a:t>
            </a:r>
          </a:p>
          <a:p>
            <a:r>
              <a:rPr lang="en-US" dirty="0"/>
              <a:t>A primary key can be defined in either a CREATE TABLE statement or an ALTER TABLE statement.</a:t>
            </a:r>
          </a:p>
          <a:p>
            <a:endParaRPr lang="en-US" dirty="0"/>
          </a:p>
          <a:p>
            <a:r>
              <a:rPr lang="en-US" b="1" dirty="0"/>
              <a:t>Create Primary Key - Using CREATE TABLE statement</a:t>
            </a:r>
          </a:p>
          <a:p>
            <a:r>
              <a:rPr lang="en-US" dirty="0"/>
              <a:t>You can create a primary key in Oracle with the CREATE TABLE statement.</a:t>
            </a:r>
          </a:p>
          <a:p>
            <a:r>
              <a:rPr lang="en-US" b="1" dirty="0"/>
              <a:t>Syntax</a:t>
            </a:r>
          </a:p>
          <a:p>
            <a:r>
              <a:rPr lang="en-US" dirty="0"/>
              <a:t>The syntax to create a primary key using the CREATE TABLE statement in Oracle/PLSQL is:</a:t>
            </a:r>
          </a:p>
          <a:p>
            <a:endParaRPr lang="en-US" dirty="0"/>
          </a:p>
          <a:p>
            <a:r>
              <a:rPr lang="en-US" dirty="0"/>
              <a:t>CREATE TABLE table_name ( column1 datatype null/not null, column2 datatype null/not null, ... CONSTRAINT constraint_name PRIMARY KEY (column1, column2, ... column_n) 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24307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43368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FOREIGN KEY (FK)</a:t>
            </a:r>
          </a:p>
          <a:p>
            <a:r>
              <a:rPr lang="en-US" dirty="0">
                <a:effectLst/>
              </a:rPr>
              <a:t>In Oracle, the Foreign Key constraint designates a column (or a set of columns) as a Foreign Key and establishes a relationship between a Primary Key (or Unique) in different table (or in the same table) 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syntax used for defining a Check Constraint is as follows: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column_name  … [CONSTRAINT constraint_name] REFERENCES table_name(column_name) [ON DELETE CASCADE] [ON DELETE SET NULL]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35184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9063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Foreign Key columns reference a Primary Key or Unique 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column from the same or different table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By default the referenced column in the parent table cannot be updated or deleted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ON DELETE CASCADE option 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bg1"/>
                </a:solidFill>
              </a:rPr>
              <a:t>indicates when the row in the parent table is deleted, the dependent rows in the child table will also be deleted.</a:t>
            </a:r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8512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CHECK (CK)</a:t>
            </a:r>
          </a:p>
          <a:p>
            <a:r>
              <a:rPr lang="en-US" dirty="0">
                <a:effectLst/>
              </a:rPr>
              <a:t>In Oracle, the Check constraint defines a condition that each row must satisfy. The syntax used for defining a Check Constraint is as follows: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column_name column_DataType [DEFAULT value] [CONSTRAINT constraint_name] CHECK (Condition),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condition written in the CHECK is quite similar in its structure to each of the conditions written in a WHERE sentence.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condition in the CHECK part must not include: </a:t>
            </a:r>
          </a:p>
          <a:p>
            <a:pPr lvl="1"/>
            <a:r>
              <a:rPr lang="en-US" dirty="0">
                <a:effectLst/>
              </a:rPr>
              <a:t>Values that are returned as a result of using SEQUENCES</a:t>
            </a:r>
          </a:p>
          <a:p>
            <a:pPr lvl="1"/>
            <a:r>
              <a:rPr lang="en-US" dirty="0">
                <a:effectLst/>
              </a:rPr>
              <a:t>Functions such as SYSDATE, ROWNUM</a:t>
            </a:r>
          </a:p>
          <a:p>
            <a:pPr lvl="1"/>
            <a:r>
              <a:rPr lang="en-US" dirty="0">
                <a:effectLst/>
              </a:rPr>
              <a:t>Subqueries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69202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560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9668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68497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2352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21415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Drop an Existing Table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syntax used for deleting an existing table in Oracle is as follows :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DROP TABLE table_name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DCC5A7-E6B4-43F7-90B3-FE4128ADA799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105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-Read Me Firs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462343" y="2209803"/>
            <a:ext cx="8284633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Read Me First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4" y="3657600"/>
            <a:ext cx="7880905" cy="12954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See notes on the left of slide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993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1-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29"/>
          <a:stretch/>
        </p:blipFill>
        <p:spPr>
          <a:xfrm>
            <a:off x="32657" y="2514600"/>
            <a:ext cx="9144000" cy="4343400"/>
          </a:xfrm>
          <a:prstGeom prst="rect">
            <a:avLst/>
          </a:prstGeom>
        </p:spPr>
      </p:pic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462343" y="2209803"/>
            <a:ext cx="8284633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 baseline="0">
                <a:solidFill>
                  <a:srgbClr val="0099CC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Course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4" y="3657600"/>
            <a:ext cx="7880905" cy="44608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 Topic Title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2"/>
          <a:stretch/>
        </p:blipFill>
        <p:spPr>
          <a:xfrm>
            <a:off x="3214651" y="4038600"/>
            <a:ext cx="5918467" cy="2839093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609604" y="3505200"/>
            <a:ext cx="7880905" cy="0"/>
          </a:xfrm>
          <a:prstGeom prst="line">
            <a:avLst/>
          </a:prstGeom>
          <a:ln w="6350" cmpd="sng">
            <a:gradFill flip="none" rotWithShape="1">
              <a:gsLst>
                <a:gs pos="0">
                  <a:srgbClr val="0099FF"/>
                </a:gs>
                <a:gs pos="100000">
                  <a:srgbClr val="008000"/>
                </a:gs>
              </a:gsLst>
              <a:lin ang="0" scaled="1"/>
              <a:tileRect/>
            </a:gra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79401"/>
            <a:ext cx="2432050" cy="910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382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2-Generate Inte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492081"/>
            <a:ext cx="381000" cy="21351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04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3_Terminal 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Terminal Objective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081"/>
            <a:ext cx="533400" cy="21352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5987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4_Establish Need and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Need and/or Benefits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930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5_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Key Topics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010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1-Modu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/>
          <p:nvPr/>
        </p:nvCxnSpPr>
        <p:spPr>
          <a:xfrm>
            <a:off x="0" y="3124200"/>
            <a:ext cx="9133114" cy="0"/>
          </a:xfrm>
          <a:prstGeom prst="line">
            <a:avLst/>
          </a:prstGeom>
          <a:ln w="1301750" cmpd="sng">
            <a:gradFill flip="none" rotWithShape="1">
              <a:gsLst>
                <a:gs pos="0">
                  <a:srgbClr val="0099FF"/>
                </a:gs>
                <a:gs pos="100000">
                  <a:srgbClr val="008000"/>
                </a:gs>
              </a:gsLst>
              <a:lin ang="0" scaled="1"/>
              <a:tileRect/>
            </a:gra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819403"/>
            <a:ext cx="9133114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29"/>
          <a:stretch/>
        </p:blipFill>
        <p:spPr>
          <a:xfrm>
            <a:off x="-2406316" y="1371600"/>
            <a:ext cx="11550316" cy="548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340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2_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7935" y="358002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 – Black 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77000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bg2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8349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3_Dark Blue Activity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Activity Slide -  dark blue – use only for activities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942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4_Recap or Revie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Recap or Review – use any color slide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60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5_Light Blue Backgroun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 – Light Blue 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9625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6_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 – White 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344487" indent="-342900">
              <a:buClrTx/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2pPr>
            <a:lvl3pPr marL="463550" indent="-342900">
              <a:buClrTx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3pPr>
            <a:lvl4pPr marL="503237" indent="-285750">
              <a:buClrTx/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4pPr>
            <a:lvl5pPr marL="622300" indent="-285750">
              <a:buClrTx/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61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1_Check on Learn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Check on learning -  any color slide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150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_Restate Objectiv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Restate terminal objective - any color slide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5725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3_Ask Question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Ask learner-centered questions - any color slide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3405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4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29"/>
          <a:stretch/>
        </p:blipFill>
        <p:spPr>
          <a:xfrm>
            <a:off x="0" y="2518348"/>
            <a:ext cx="9144000" cy="4343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3" y="800325"/>
            <a:ext cx="3616147" cy="607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2"/>
          <a:stretch/>
        </p:blipFill>
        <p:spPr>
          <a:xfrm>
            <a:off x="3214651" y="4018908"/>
            <a:ext cx="5918467" cy="2839093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838649" y="1598705"/>
            <a:ext cx="3633788" cy="192405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rgbClr val="141414"/>
                </a:solidFill>
              </a:defRPr>
            </a:lvl2pPr>
            <a:lvl3pPr marL="914400" indent="0">
              <a:buNone/>
              <a:defRPr>
                <a:solidFill>
                  <a:srgbClr val="141414"/>
                </a:solidFill>
              </a:defRPr>
            </a:lvl3pPr>
            <a:lvl4pPr marL="1371600" indent="0">
              <a:buNone/>
              <a:defRPr>
                <a:solidFill>
                  <a:srgbClr val="141414"/>
                </a:solidFill>
              </a:defRPr>
            </a:lvl4pPr>
            <a:lvl5pPr marL="1828800" indent="0">
              <a:buNone/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ID</a:t>
            </a:r>
            <a:br>
              <a:rPr lang="en-US" dirty="0"/>
            </a:br>
            <a:r>
              <a:rPr lang="en-US" dirty="0"/>
              <a:t>Email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720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36636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3352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56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0" y="0"/>
            <a:ext cx="6858000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382000" y="6629400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7BD3A-29CC-40F2-A7CA-C5475BAFE57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168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06375"/>
            <a:ext cx="6858000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371600"/>
            <a:ext cx="4267200" cy="4943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267200" cy="4943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629400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E5281-D336-4033-829D-983A86FA9A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91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0E2D3F"/>
            </a:gs>
            <a:gs pos="100000">
              <a:srgbClr val="0A0D1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1"/>
          <p:cNvSpPr>
            <a:spLocks noChangeShapeType="1"/>
          </p:cNvSpPr>
          <p:nvPr userDrawn="1"/>
        </p:nvSpPr>
        <p:spPr bwMode="auto">
          <a:xfrm flipH="1">
            <a:off x="0" y="6381750"/>
            <a:ext cx="9144000" cy="0"/>
          </a:xfrm>
          <a:prstGeom prst="line">
            <a:avLst/>
          </a:prstGeom>
          <a:noFill/>
          <a:ln w="9525">
            <a:solidFill>
              <a:srgbClr val="28709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" name="Line 73"/>
          <p:cNvSpPr>
            <a:spLocks noChangeShapeType="1"/>
          </p:cNvSpPr>
          <p:nvPr userDrawn="1"/>
        </p:nvSpPr>
        <p:spPr bwMode="auto">
          <a:xfrm>
            <a:off x="8618538" y="6391275"/>
            <a:ext cx="0" cy="457200"/>
          </a:xfrm>
          <a:prstGeom prst="line">
            <a:avLst/>
          </a:prstGeom>
          <a:noFill/>
          <a:ln w="25400">
            <a:solidFill>
              <a:srgbClr val="209D0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73745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  <p:sldLayoutId id="2147483803" r:id="rId19"/>
    <p:sldLayoutId id="2147483804" r:id="rId20"/>
    <p:sldLayoutId id="2147483805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rgbClr val="0099C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462343" y="2209803"/>
            <a:ext cx="8284633" cy="5847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Introduction to Relational Databases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Creating Tables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Enabling Objectives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After completing this chapter, in the next 45 minutes you will be able to : </a:t>
            </a:r>
          </a:p>
          <a:p>
            <a:pPr marL="0" indent="0">
              <a:buNone/>
            </a:pPr>
            <a:endParaRPr sz="2000" dirty="0">
              <a:solidFill>
                <a:schemeClr val="bg1"/>
              </a:solidFill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Create at least 1 table using Data Definition Language(DDL) statement on oracle database platform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6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Key Topics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 vert="horz">
            <a:normAutofit/>
          </a:bodyPr>
          <a:lstStyle/>
          <a:p>
            <a:pPr lvl="1">
              <a:buClrTx/>
            </a:pPr>
            <a:r>
              <a:rPr lang="en-US" sz="2000" dirty="0">
                <a:solidFill>
                  <a:schemeClr val="bg1"/>
                </a:solidFill>
              </a:rPr>
              <a:t>Using DDL statements</a:t>
            </a:r>
          </a:p>
          <a:p>
            <a:pPr lvl="1">
              <a:buClrTx/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buClrTx/>
            </a:pPr>
            <a:r>
              <a:rPr lang="en-US" sz="2000" dirty="0">
                <a:solidFill>
                  <a:schemeClr val="bg1"/>
                </a:solidFill>
              </a:rPr>
              <a:t>Using CRATE TABLE command.</a:t>
            </a:r>
          </a:p>
          <a:p>
            <a:pPr lvl="1">
              <a:buClrTx/>
            </a:pPr>
            <a:endParaRPr lang="en-US" sz="2000" dirty="0">
              <a:solidFill>
                <a:schemeClr val="bg1"/>
              </a:solidFill>
            </a:endParaRPr>
          </a:p>
          <a:p>
            <a:pPr lvl="1">
              <a:buClrTx/>
            </a:pPr>
            <a:r>
              <a:rPr lang="en-US" sz="2000" dirty="0">
                <a:solidFill>
                  <a:schemeClr val="bg1"/>
                </a:solidFill>
              </a:rPr>
              <a:t>Using Oracle Datatypes</a:t>
            </a:r>
          </a:p>
          <a:p>
            <a:pPr lvl="1">
              <a:buClrTx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8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DDL Statements</a:t>
            </a:r>
          </a:p>
        </p:txBody>
      </p:sp>
    </p:spTree>
    <p:extLst>
      <p:ext uri="{BB962C8B-B14F-4D97-AF65-F5344CB8AC3E}">
        <p14:creationId xmlns:p14="http://schemas.microsoft.com/office/powerpoint/2010/main" val="283049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Data Definition Language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DDL refers to "Data Definition Language",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Creates or modifies the structure of the table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		CREATE </a:t>
            </a:r>
            <a:r>
              <a:rPr lang="en-US" altLang="en-US" sz="1600" dirty="0">
                <a:solidFill>
                  <a:schemeClr val="bg1"/>
                </a:solidFill>
              </a:rPr>
              <a:t>table object</a:t>
            </a:r>
          </a:p>
          <a:p>
            <a:pPr marL="120650" lvl="2" indent="0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</a:rPr>
              <a:t>		</a:t>
            </a:r>
            <a:r>
              <a:rPr lang="en-US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ALTER</a:t>
            </a:r>
            <a:r>
              <a:rPr lang="en-US" altLang="en-US" sz="1600" dirty="0">
                <a:solidFill>
                  <a:schemeClr val="bg1"/>
                </a:solidFill>
              </a:rPr>
              <a:t> table object</a:t>
            </a:r>
          </a:p>
          <a:p>
            <a:pPr marL="120650" lvl="2" indent="0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</a:rPr>
              <a:t>		</a:t>
            </a:r>
            <a:r>
              <a:rPr lang="en-US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DROP</a:t>
            </a:r>
            <a:r>
              <a:rPr lang="en-US" altLang="en-US" sz="1600" dirty="0">
                <a:solidFill>
                  <a:schemeClr val="bg1"/>
                </a:solidFill>
              </a:rPr>
              <a:t> table object</a:t>
            </a:r>
          </a:p>
          <a:p>
            <a:pPr lvl="1" indent="0">
              <a:lnSpc>
                <a:spcPct val="150000"/>
              </a:lnSpc>
              <a:buNone/>
            </a:pP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Guidelines for creating table 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bg1"/>
                </a:solidFill>
              </a:rPr>
              <a:t>Table structure once defined can be modified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bg1"/>
                </a:solidFill>
              </a:rPr>
              <a:t>Table names must be unique within a database schema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bg1"/>
                </a:solidFill>
              </a:rPr>
              <a:t>Column names must be unique within a table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bg1"/>
                </a:solidFill>
              </a:rPr>
              <a:t>Tables can be created at any time, even while users are using the database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4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Guidelines for creating table 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20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/>
                </a:solidFill>
              </a:rPr>
              <a:t>Use descriptive names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/>
                </a:solidFill>
              </a:rPr>
              <a:t>Case sensitivity varies by </a:t>
            </a:r>
            <a:r>
              <a:rPr lang="en-US" altLang="en-US" dirty="0" err="1">
                <a:solidFill>
                  <a:schemeClr val="bg1"/>
                </a:solidFill>
              </a:rPr>
              <a:t>dbms</a:t>
            </a:r>
            <a:r>
              <a:rPr lang="en-US" altLang="en-US" dirty="0">
                <a:solidFill>
                  <a:schemeClr val="bg1"/>
                </a:solidFill>
              </a:rPr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olidFill>
                  <a:schemeClr val="bg1"/>
                </a:solidFill>
              </a:rPr>
              <a:t>Assume case </a:t>
            </a:r>
            <a:r>
              <a:rPr lang="en-US" altLang="en-US" sz="1800" i="1" dirty="0">
                <a:solidFill>
                  <a:schemeClr val="bg1"/>
                </a:solidFill>
              </a:rPr>
              <a:t>insensitivity</a:t>
            </a:r>
            <a:r>
              <a:rPr lang="en-US" altLang="en-US" sz="1800" dirty="0">
                <a:solidFill>
                  <a:schemeClr val="bg1"/>
                </a:solidFill>
              </a:rPr>
              <a:t> when making names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olidFill>
                  <a:schemeClr val="bg1"/>
                </a:solidFill>
              </a:rPr>
              <a:t>Assume case </a:t>
            </a:r>
            <a:r>
              <a:rPr lang="en-US" altLang="en-US" sz="1800" i="1" dirty="0">
                <a:solidFill>
                  <a:schemeClr val="bg1"/>
                </a:solidFill>
              </a:rPr>
              <a:t>sensitivity</a:t>
            </a:r>
            <a:r>
              <a:rPr lang="en-US" altLang="en-US" sz="1800" dirty="0">
                <a:solidFill>
                  <a:schemeClr val="bg1"/>
                </a:solidFill>
              </a:rPr>
              <a:t> when accessing names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4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Data Types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47935" y="989324"/>
            <a:ext cx="8382000" cy="46228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Specifies storage format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Specifies constraints, and a valid range of values. </a:t>
            </a:r>
            <a:endParaRPr lang="en-US" sz="20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000" dirty="0"/>
              <a:t>Must to specify a datatype for each columns</a:t>
            </a:r>
            <a:endParaRPr lang="en-US" altLang="en-US" sz="20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2819400"/>
            <a:ext cx="6781800" cy="222522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TABLE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</a:t>
            </a:r>
            <a:r>
              <a:rPr lang="en-US" altLang="en-US" sz="2200" b="0" dirty="0">
                <a:solidFill>
                  <a:srgbClr val="00B050"/>
                </a:solidFill>
              </a:rPr>
              <a:t>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	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employee_code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char(4),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	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employee_name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varchar(50),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  	 </a:t>
            </a:r>
            <a:r>
              <a:rPr lang="en-US" altLang="en-US" sz="2200" b="0" dirty="0">
                <a:solidFill>
                  <a:schemeClr val="accent6"/>
                </a:solidFill>
              </a:rPr>
              <a:t>hire_date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  	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employee_salary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decimal(8,2),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	 </a:t>
            </a:r>
            <a:r>
              <a:rPr lang="en-US" altLang="en-US" sz="2200" b="0" dirty="0">
                <a:solidFill>
                  <a:schemeClr val="accent6"/>
                </a:solidFill>
              </a:rPr>
              <a:t>dept_id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 	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char(2),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72956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E2D3F"/>
            </a:gs>
            <a:gs pos="100000">
              <a:srgbClr val="0A0D1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Common Data Types (MySQL versions)</a:t>
            </a:r>
          </a:p>
        </p:txBody>
      </p:sp>
      <p:graphicFrame>
        <p:nvGraphicFramePr>
          <p:cNvPr id="43078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741635"/>
              </p:ext>
            </p:extLst>
          </p:nvPr>
        </p:nvGraphicFramePr>
        <p:xfrm>
          <a:off x="832757" y="1069325"/>
          <a:ext cx="7848600" cy="4429408"/>
        </p:xfrm>
        <a:graphic>
          <a:graphicData uri="http://schemas.openxmlformats.org/drawingml/2006/table">
            <a:tbl>
              <a:tblPr/>
              <a:tblGrid>
                <a:gridCol w="230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7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varchar(size)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Variable-length character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 (size)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Fixed-length character data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integer(size)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(size)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32-bit signed int.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specifies display size.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25314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decimal(size, d)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fixed-point number.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total digits,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digits after decimal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boolean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/bool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boolean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(0 is false)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596130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date/datetime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and time values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up to 65535 characters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longtext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up to 4.3B characters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246479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Lend a hand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Create a table Employee on Oracle Database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altLang="en-US" sz="1800" dirty="0">
              <a:solidFill>
                <a:schemeClr val="accent3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2336618"/>
            <a:ext cx="6781800" cy="222522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TABLE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</a:t>
            </a:r>
            <a:r>
              <a:rPr lang="en-US" altLang="en-US" sz="2200" b="0" dirty="0">
                <a:solidFill>
                  <a:srgbClr val="00B050"/>
                </a:solidFill>
              </a:rPr>
              <a:t>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	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employee_code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number(4),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	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employee_name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varchar2(20),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  	 </a:t>
            </a:r>
            <a:r>
              <a:rPr lang="en-US" altLang="en-US" sz="2200" b="0" dirty="0">
                <a:solidFill>
                  <a:schemeClr val="accent6"/>
                </a:solidFill>
              </a:rPr>
              <a:t>hire_date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  	 </a:t>
            </a:r>
            <a:r>
              <a:rPr lang="en-US" altLang="en-US" sz="2200" b="0" dirty="0">
                <a:solidFill>
                  <a:schemeClr val="accent6"/>
                </a:solidFill>
              </a:rPr>
              <a:t>employee_salary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number(7,2),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	 </a:t>
            </a:r>
            <a:r>
              <a:rPr lang="en-US" altLang="en-US" sz="2200" b="0" dirty="0">
                <a:solidFill>
                  <a:schemeClr val="accent6"/>
                </a:solidFill>
              </a:rPr>
              <a:t>dept_id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 	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number(2),</a:t>
            </a:r>
            <a:r>
              <a:rPr lang="en-US" altLang="en-US" sz="2200" b="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402860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A69740-592D-224F-B648-5B91BFC16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21439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Constraints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81000" y="838200"/>
            <a:ext cx="8382000" cy="5486399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Constraints are rules enforced </a:t>
            </a:r>
            <a:endParaRPr lang="en-US" altLang="en-US" sz="2000" dirty="0">
              <a:solidFill>
                <a:schemeClr val="bg1"/>
              </a:solidFill>
            </a:endParaRPr>
          </a:p>
          <a:p>
            <a:pPr marL="5715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bg1"/>
                </a:solidFill>
              </a:rPr>
              <a:t>A</a:t>
            </a:r>
            <a:r>
              <a:rPr altLang="en-US" sz="1600" dirty="0">
                <a:solidFill>
                  <a:schemeClr val="bg1"/>
                </a:solidFill>
              </a:rPr>
              <a:t>t the table </a:t>
            </a:r>
            <a:r>
              <a:rPr lang="en-US" altLang="en-US" sz="1600" dirty="0">
                <a:solidFill>
                  <a:schemeClr val="bg1"/>
                </a:solidFill>
              </a:rPr>
              <a:t>and column </a:t>
            </a:r>
            <a:r>
              <a:rPr altLang="en-US" sz="1600" dirty="0">
                <a:solidFill>
                  <a:schemeClr val="bg1"/>
                </a:solidFill>
              </a:rPr>
              <a:t>level</a:t>
            </a:r>
            <a:endParaRPr lang="en-US" alt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alt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Enforce rules on the data in a table </a:t>
            </a:r>
            <a:endParaRPr lang="en-US" altLang="en-US" sz="2000" dirty="0">
              <a:solidFill>
                <a:schemeClr val="bg1"/>
              </a:solidFill>
            </a:endParaRPr>
          </a:p>
          <a:p>
            <a:pPr marL="5715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bg1"/>
                </a:solidFill>
              </a:rPr>
              <a:t>W</a:t>
            </a:r>
            <a:r>
              <a:rPr altLang="en-US" sz="1600" dirty="0">
                <a:solidFill>
                  <a:schemeClr val="bg1"/>
                </a:solidFill>
              </a:rPr>
              <a:t>henever a row is inserted, updated or deleted from table</a:t>
            </a:r>
            <a:endParaRPr lang="en-US" alt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alt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Prevent</a:t>
            </a:r>
            <a:r>
              <a:rPr lang="en-US" altLang="en-US" sz="2000" dirty="0">
                <a:solidFill>
                  <a:schemeClr val="bg1"/>
                </a:solidFill>
              </a:rPr>
              <a:t>s</a:t>
            </a:r>
            <a:r>
              <a:rPr altLang="en-US" sz="2000" dirty="0">
                <a:solidFill>
                  <a:schemeClr val="bg1"/>
                </a:solidFill>
              </a:rPr>
              <a:t> deletion of a table </a:t>
            </a:r>
            <a:endParaRPr lang="en-US" altLang="en-US" sz="2000" dirty="0">
              <a:solidFill>
                <a:schemeClr val="bg1"/>
              </a:solidFill>
            </a:endParaRPr>
          </a:p>
          <a:p>
            <a:pPr marL="571500" lvl="1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bg1"/>
                </a:solidFill>
              </a:rPr>
              <a:t>I</a:t>
            </a:r>
            <a:r>
              <a:rPr altLang="en-US" sz="1600" dirty="0">
                <a:solidFill>
                  <a:schemeClr val="bg1"/>
                </a:solidFill>
              </a:rPr>
              <a:t>f there are dependencies from other tables</a:t>
            </a:r>
            <a:endParaRPr lang="en-US" alt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altLang="en-US" sz="19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87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Constraints Types</a:t>
            </a:r>
          </a:p>
        </p:txBody>
      </p:sp>
      <p:graphicFrame>
        <p:nvGraphicFramePr>
          <p:cNvPr id="235566" name="Group 46"/>
          <p:cNvGraphicFramePr>
            <a:graphicFrameLocks noGrp="1"/>
          </p:cNvGraphicFramePr>
          <p:nvPr>
            <p:extLst/>
          </p:nvPr>
        </p:nvGraphicFramePr>
        <p:xfrm>
          <a:off x="685800" y="1219200"/>
          <a:ext cx="7315200" cy="3450085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Constraints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Primary Key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Uniquely identifies each row of the table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9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Foreign Key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Establishes and enforces a referential integrity constraint between the column and a column of referenced table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Check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Specifies a condition that must be true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Unique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Specifies a column whose values must be unique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Not null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Tx/>
                        <a:buNone/>
                        <a:tabLst/>
                      </a:pPr>
                      <a:r>
                        <a:rPr lang="en-US" sz="1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Specifies that the column cannot contain a null value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5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Not Null constraint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441081" y="992475"/>
            <a:ext cx="8382000" cy="4622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altLang="en-US" sz="2000" dirty="0">
                <a:solidFill>
                  <a:schemeClr val="bg1"/>
                </a:solidFill>
              </a:rPr>
              <a:t>Ensures null values are not permitted in a column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altLang="en-US" sz="1800" dirty="0">
                <a:solidFill>
                  <a:schemeClr val="bg1"/>
                </a:solidFill>
              </a:rPr>
              <a:t>           </a:t>
            </a:r>
          </a:p>
        </p:txBody>
      </p:sp>
      <p:sp>
        <p:nvSpPr>
          <p:cNvPr id="45062" name="Text Box 5"/>
          <p:cNvSpPr txBox="1">
            <a:spLocks noChangeArrowheads="1"/>
          </p:cNvSpPr>
          <p:nvPr/>
        </p:nvSpPr>
        <p:spPr bwMode="auto">
          <a:xfrm>
            <a:off x="7370798" y="1999203"/>
            <a:ext cx="1488141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en-US" sz="1800" b="0" dirty="0">
                <a:solidFill>
                  <a:schemeClr val="bg2">
                    <a:lumMod val="95000"/>
                  </a:schemeClr>
                </a:solidFill>
              </a:rPr>
              <a:t>System Generated name</a:t>
            </a:r>
          </a:p>
        </p:txBody>
      </p:sp>
      <p:sp>
        <p:nvSpPr>
          <p:cNvPr id="45063" name="Text Box 6"/>
          <p:cNvSpPr txBox="1">
            <a:spLocks noChangeArrowheads="1"/>
          </p:cNvSpPr>
          <p:nvPr/>
        </p:nvSpPr>
        <p:spPr bwMode="auto">
          <a:xfrm>
            <a:off x="4168490" y="5014233"/>
            <a:ext cx="2514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>
                <a:solidFill>
                  <a:schemeClr val="bg2">
                    <a:lumMod val="95000"/>
                  </a:schemeClr>
                </a:solidFill>
              </a:rPr>
              <a:t>User defined name</a:t>
            </a:r>
          </a:p>
        </p:txBody>
      </p:sp>
      <p:sp>
        <p:nvSpPr>
          <p:cNvPr id="45064" name="Line 7"/>
          <p:cNvSpPr>
            <a:spLocks noChangeShapeType="1"/>
          </p:cNvSpPr>
          <p:nvPr/>
        </p:nvSpPr>
        <p:spPr bwMode="auto">
          <a:xfrm flipH="1" flipV="1">
            <a:off x="4542767" y="4396883"/>
            <a:ext cx="685801" cy="429986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41081" y="1999203"/>
            <a:ext cx="6858000" cy="24335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CREATE</a:t>
            </a:r>
            <a:r>
              <a:rPr lang="en-US" altLang="en-US" sz="22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TABLE</a:t>
            </a:r>
            <a:r>
              <a:rPr lang="en-US" altLang="en-US" sz="22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Employee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e_name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varchar(50) not null,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Salary	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decimal(8,2),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hire_date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date </a:t>
            </a:r>
            <a:r>
              <a:rPr lang="en-US" altLang="en-US" sz="2200" b="0" dirty="0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 constraint nn_jdate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not null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);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H="1">
            <a:off x="4992479" y="2286000"/>
            <a:ext cx="2378319" cy="225714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70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  <p:bldP spid="45063" grpId="0"/>
      <p:bldP spid="45064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Unique Constraint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altLang="en-US" sz="2000" dirty="0">
                <a:solidFill>
                  <a:schemeClr val="bg1"/>
                </a:solidFill>
              </a:rPr>
              <a:t>Ensures every value entered is unique</a:t>
            </a:r>
            <a:r>
              <a:rPr lang="en-US" altLang="en-US" sz="2000" dirty="0">
                <a:solidFill>
                  <a:schemeClr val="bg1"/>
                </a:solidFill>
              </a:rPr>
              <a:t> at table level</a:t>
            </a:r>
            <a:endParaRPr alt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altLang="en-US" sz="2000" dirty="0">
                <a:solidFill>
                  <a:schemeClr val="bg1"/>
                </a:solidFill>
              </a:rPr>
              <a:t>Allows </a:t>
            </a:r>
            <a:r>
              <a:rPr lang="en-US" altLang="en-US" sz="2000" dirty="0">
                <a:solidFill>
                  <a:schemeClr val="bg1"/>
                </a:solidFill>
              </a:rPr>
              <a:t>single</a:t>
            </a:r>
            <a:r>
              <a:rPr altLang="en-US" sz="2000" dirty="0">
                <a:solidFill>
                  <a:schemeClr val="bg1"/>
                </a:solidFill>
              </a:rPr>
              <a:t> null value</a:t>
            </a:r>
            <a:r>
              <a:rPr lang="en-US" altLang="en-US" sz="2000" dirty="0">
                <a:solidFill>
                  <a:schemeClr val="bg1"/>
                </a:solidFill>
              </a:rPr>
              <a:t> at table level</a:t>
            </a:r>
            <a:endParaRPr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altLang="en-US" sz="2000" dirty="0">
                <a:solidFill>
                  <a:schemeClr val="bg1"/>
                </a:solidFill>
              </a:rPr>
              <a:t>        </a:t>
            </a:r>
          </a:p>
          <a:p>
            <a:pPr>
              <a:buFont typeface="Wingdings" panose="05000000000000000000" pitchFamily="2" charset="2"/>
              <a:buNone/>
            </a:pPr>
            <a:endParaRPr altLang="en-US" sz="2000" dirty="0">
              <a:solidFill>
                <a:schemeClr val="bg1"/>
              </a:solidFill>
            </a:endParaRP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5333999" y="5575965"/>
            <a:ext cx="2667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>
                <a:solidFill>
                  <a:schemeClr val="bg2">
                    <a:lumMod val="95000"/>
                  </a:schemeClr>
                </a:solidFill>
              </a:rPr>
              <a:t>Table level constraint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57199" y="2133600"/>
            <a:ext cx="7543800" cy="30096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CREATE TABLE </a:t>
            </a: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Employee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(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e_name	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varchar(50) not null,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salary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	 number(8,2),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e_mail	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varchar(50),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hire_date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 date constraint nn_jdate not null,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		constraint uq_email unique(e_mail)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);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H="1" flipV="1">
            <a:off x="4648199" y="4876800"/>
            <a:ext cx="1219201" cy="587473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186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Primary Key Constraint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Uniquely identifies each row in the table (ENTITY INTEGRITY)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One per table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Can be a single column or a combination of columns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Enforces uniqueness and not null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6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Primary Key Constraint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altLang="en-US" sz="2000" dirty="0">
                <a:solidFill>
                  <a:schemeClr val="bg1"/>
                </a:solidFill>
              </a:rPr>
              <a:t>A unique index is automatically created on primary key column</a:t>
            </a:r>
          </a:p>
          <a:p>
            <a:pPr marL="217487" lvl="3" indent="0">
              <a:buNone/>
            </a:pPr>
            <a:endParaRPr lang="en-US" alt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altLang="en-US" sz="2000" dirty="0">
                <a:solidFill>
                  <a:schemeClr val="bg1"/>
                </a:solidFill>
              </a:rPr>
              <a:t>      </a:t>
            </a:r>
            <a:endParaRPr altLang="en-US" sz="1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2362200"/>
            <a:ext cx="8051800" cy="381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CREATE TABLE </a:t>
            </a: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Employee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(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e_code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char(7) constraint </a:t>
            </a:r>
            <a:r>
              <a:rPr lang="en-US" altLang="en-US" sz="2200" b="0" dirty="0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pk_ecode primary key,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e_name 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varchar(50) not null,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e_mail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	varchar(50),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hire_date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date constraint nn_jdate not null,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	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constraint uq_email unique(e_mail)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);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33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Foreign Key Constraint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228601" y="965261"/>
            <a:ext cx="8534399" cy="525257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altLang="en-US" sz="2000" dirty="0">
                <a:solidFill>
                  <a:schemeClr val="bg1"/>
                </a:solidFill>
              </a:rPr>
              <a:t>Designates a  column as foreign key </a:t>
            </a:r>
            <a:endParaRPr lang="en-US" altLang="en-US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E</a:t>
            </a:r>
            <a:r>
              <a:rPr altLang="en-US" sz="2000" dirty="0">
                <a:solidFill>
                  <a:schemeClr val="bg1"/>
                </a:solidFill>
              </a:rPr>
              <a:t>stablishes a relationship between a primary key in the same table or a different table .</a:t>
            </a:r>
          </a:p>
          <a:p>
            <a:pPr>
              <a:lnSpc>
                <a:spcPct val="90000"/>
              </a:lnSpc>
            </a:pPr>
            <a:endParaRPr altLang="en-US" sz="20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altLang="en-US" sz="1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altLang="en-US" sz="1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altLang="en-US" sz="1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altLang="en-US" sz="1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altLang="en-US" sz="2000" dirty="0">
                <a:solidFill>
                  <a:schemeClr val="bg1"/>
                </a:solidFill>
              </a:rPr>
              <a:t>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altLang="en-US" sz="2000" dirty="0">
                <a:solidFill>
                  <a:schemeClr val="bg1"/>
                </a:solidFill>
              </a:rPr>
              <a:t>              </a:t>
            </a:r>
            <a:r>
              <a:rPr lang="en-US" altLang="en-US" sz="2000" dirty="0">
                <a:solidFill>
                  <a:schemeClr val="bg1"/>
                </a:solidFill>
              </a:rPr>
              <a:t>  </a:t>
            </a:r>
            <a:endParaRPr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40692" name="Group 52"/>
          <p:cNvGraphicFramePr>
            <a:graphicFrameLocks noGrp="1"/>
          </p:cNvGraphicFramePr>
          <p:nvPr>
            <p:ph sz="half" idx="4294967295"/>
            <p:extLst/>
          </p:nvPr>
        </p:nvGraphicFramePr>
        <p:xfrm>
          <a:off x="5582653" y="3625478"/>
          <a:ext cx="2286000" cy="914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itchFamily="18" charset="0"/>
                        </a:rPr>
                        <a:t>Dept_id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itchFamily="18" charset="0"/>
                        </a:rPr>
                        <a:t>D_name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0691" name="Group 51"/>
          <p:cNvGraphicFramePr>
            <a:graphicFrameLocks noGrp="1"/>
          </p:cNvGraphicFramePr>
          <p:nvPr>
            <p:extLst/>
          </p:nvPr>
        </p:nvGraphicFramePr>
        <p:xfrm>
          <a:off x="468435" y="2461116"/>
          <a:ext cx="4800600" cy="102108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E_code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E_name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………………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Dept_id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161" name="Line 54"/>
          <p:cNvSpPr>
            <a:spLocks noChangeShapeType="1"/>
          </p:cNvSpPr>
          <p:nvPr/>
        </p:nvSpPr>
        <p:spPr bwMode="auto">
          <a:xfrm flipH="1" flipV="1">
            <a:off x="5269034" y="2948798"/>
            <a:ext cx="445965" cy="58919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8162" name="Line 55"/>
          <p:cNvSpPr>
            <a:spLocks noChangeShapeType="1"/>
          </p:cNvSpPr>
          <p:nvPr/>
        </p:nvSpPr>
        <p:spPr bwMode="auto">
          <a:xfrm flipH="1">
            <a:off x="5269035" y="2796396"/>
            <a:ext cx="674565" cy="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8163" name="Text Box 56"/>
          <p:cNvSpPr txBox="1">
            <a:spLocks noChangeArrowheads="1"/>
          </p:cNvSpPr>
          <p:nvPr/>
        </p:nvSpPr>
        <p:spPr bwMode="auto">
          <a:xfrm>
            <a:off x="5791200" y="2643996"/>
            <a:ext cx="1600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>
                <a:solidFill>
                  <a:schemeClr val="bg2"/>
                </a:solidFill>
              </a:rPr>
              <a:t>Foreign key</a:t>
            </a:r>
          </a:p>
        </p:txBody>
      </p:sp>
      <p:sp>
        <p:nvSpPr>
          <p:cNvPr id="48164" name="Line 57"/>
          <p:cNvSpPr>
            <a:spLocks noChangeShapeType="1"/>
          </p:cNvSpPr>
          <p:nvPr/>
        </p:nvSpPr>
        <p:spPr bwMode="auto">
          <a:xfrm flipH="1" flipV="1">
            <a:off x="6705600" y="4616078"/>
            <a:ext cx="0" cy="618718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8165" name="Text Box 58"/>
          <p:cNvSpPr txBox="1">
            <a:spLocks noChangeArrowheads="1"/>
          </p:cNvSpPr>
          <p:nvPr/>
        </p:nvSpPr>
        <p:spPr bwMode="auto">
          <a:xfrm>
            <a:off x="5715000" y="5158596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0" dirty="0">
                <a:solidFill>
                  <a:schemeClr val="bg2"/>
                </a:solidFill>
              </a:rPr>
              <a:t>Primary key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865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Foreign Key Constraint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37467" y="1219200"/>
            <a:ext cx="6268453" cy="23723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CREATE TABLE </a:t>
            </a: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Department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dept_id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char(4), 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dept_name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varchar(20),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		constraint pk_dcode primary key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);</a:t>
            </a:r>
          </a:p>
          <a:p>
            <a:pPr>
              <a:buNone/>
            </a:pPr>
            <a:endParaRPr lang="en-US" altLang="en-US" sz="2200" b="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37467" y="3886200"/>
            <a:ext cx="8610600" cy="19595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endParaRPr lang="en-US" alt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CREATE TABLE </a:t>
            </a: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Employee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………….. , 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dept_id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number(4) constraint fk_code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200" b="0" dirty="0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references   department (</a:t>
            </a:r>
            <a:r>
              <a:rPr lang="en-US" altLang="en-US" sz="2200" b="0" dirty="0" err="1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dept_id</a:t>
            </a:r>
            <a:r>
              <a:rPr lang="en-US" altLang="en-US" sz="2200" b="0" dirty="0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)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);            </a:t>
            </a:r>
          </a:p>
          <a:p>
            <a:pPr>
              <a:lnSpc>
                <a:spcPct val="90000"/>
              </a:lnSpc>
              <a:buNone/>
            </a:pPr>
            <a:endParaRPr lang="en-US" altLang="en-US" sz="2200" b="0" dirty="0">
              <a:solidFill>
                <a:schemeClr val="accent4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50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Foreign Key Constraint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altLang="en-US" sz="2400" dirty="0">
                <a:solidFill>
                  <a:schemeClr val="bg1"/>
                </a:solidFill>
              </a:rPr>
              <a:t>Foreign Key columns reference a Primary Key or Unique </a:t>
            </a:r>
            <a:endParaRPr lang="en-US" altLang="en-US" sz="2400" dirty="0">
              <a:solidFill>
                <a:schemeClr val="bg1"/>
              </a:solidFill>
            </a:endParaRP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altLang="en-US" sz="1800" dirty="0">
                <a:solidFill>
                  <a:schemeClr val="bg1"/>
                </a:solidFill>
              </a:rPr>
              <a:t>column from the same or different table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alt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altLang="en-US" sz="2400" dirty="0">
                <a:solidFill>
                  <a:schemeClr val="bg1"/>
                </a:solidFill>
              </a:rPr>
              <a:t>By default the referenced column in the parent table cannot be updated or deleted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altLang="en-US" sz="2400" dirty="0">
                <a:solidFill>
                  <a:schemeClr val="bg1"/>
                </a:solidFill>
              </a:rPr>
              <a:t>ON DELETE </a:t>
            </a:r>
            <a:r>
              <a:rPr lang="en-US" altLang="en-US" sz="2400" dirty="0">
                <a:solidFill>
                  <a:schemeClr val="bg1"/>
                </a:solidFill>
              </a:rPr>
              <a:t>options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RESTRICT – default.  Prevents deletion or updating of PK field if referenced by FK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CASCADE – Delete record with FK as well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SET NULL – set all referencing FK fields to null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bg1"/>
                </a:solidFill>
              </a:rPr>
              <a:t>ON UPDATE Options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RESTRICT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CASCADE – sets referencing FK values to new PK value</a:t>
            </a:r>
          </a:p>
          <a:p>
            <a:pPr marL="514350" lvl="1" indent="-285750"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bg1"/>
                </a:solidFill>
              </a:rPr>
              <a:t>SET NULL</a:t>
            </a:r>
          </a:p>
          <a:p>
            <a:endParaRPr altLang="en-US" sz="24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2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Check Constraint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81000" y="1137830"/>
            <a:ext cx="8382000" cy="518676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bg1"/>
                </a:solidFill>
              </a:rPr>
              <a:t>C</a:t>
            </a:r>
            <a:r>
              <a:rPr altLang="en-US" sz="2000" dirty="0">
                <a:solidFill>
                  <a:schemeClr val="bg1"/>
                </a:solidFill>
              </a:rPr>
              <a:t>hecked when ever data is inserted or updated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alt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Multiple check constraints can be defined on a single column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altLang="en-US" sz="2000" dirty="0">
              <a:solidFill>
                <a:schemeClr val="bg1"/>
              </a:solidFill>
            </a:endParaRPr>
          </a:p>
          <a:p>
            <a:endParaRPr altLang="en-US" sz="1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2667001"/>
            <a:ext cx="7696200" cy="3505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endParaRPr lang="en-US" alt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CREATE TABLE </a:t>
            </a: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Employee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(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e_code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char(6) constraint pk_ecode primary key,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e_name	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varchar(50) not null,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e_mail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	varchar(50),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e_salary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number(8,2),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6"/>
                </a:solidFill>
                <a:ea typeface="+mn-ea"/>
                <a:cs typeface="+mn-cs"/>
              </a:rPr>
              <a:t>hire_date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	date constraint nn_jdate not null,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		constraint uq_email unique(e_mail) 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4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		constraint chk_sal check (e_salary &gt; 0)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);</a:t>
            </a:r>
          </a:p>
          <a:p>
            <a:pPr>
              <a:buNone/>
            </a:pPr>
            <a:endParaRPr lang="en-US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0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F6EA47-7AEA-A641-8930-EAF2076CDE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Table Modification</a:t>
            </a:r>
          </a:p>
        </p:txBody>
      </p:sp>
    </p:spTree>
    <p:extLst>
      <p:ext uri="{BB962C8B-B14F-4D97-AF65-F5344CB8AC3E}">
        <p14:creationId xmlns:p14="http://schemas.microsoft.com/office/powerpoint/2010/main" val="1445750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Alter Table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1219200"/>
            <a:ext cx="9144000" cy="4906963"/>
          </a:xfrm>
          <a:prstGeom prst="rect">
            <a:avLst/>
          </a:prstGeo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ALTER TABLE statement is used </a:t>
            </a:r>
            <a:r>
              <a:rPr lang="en-US" altLang="en-US" sz="2000" dirty="0">
                <a:solidFill>
                  <a:schemeClr val="bg1"/>
                </a:solidFill>
              </a:rPr>
              <a:t> alter table structure</a:t>
            </a:r>
          </a:p>
          <a:p>
            <a:pPr marL="450850" lvl="3" indent="-285750"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bg1"/>
              </a:solidFill>
            </a:endParaRPr>
          </a:p>
          <a:p>
            <a:pPr marL="450850" lvl="3" indent="-285750">
              <a:buFont typeface="Wingdings" panose="05000000000000000000" pitchFamily="2" charset="2"/>
              <a:buChar char="§"/>
            </a:pPr>
            <a:r>
              <a:rPr altLang="en-US" dirty="0">
                <a:solidFill>
                  <a:schemeClr val="bg1"/>
                </a:solidFill>
              </a:rPr>
              <a:t>Add new columns</a:t>
            </a:r>
          </a:p>
          <a:p>
            <a:pPr marL="450850" lvl="3" indent="-285750">
              <a:buFont typeface="Wingdings" panose="05000000000000000000" pitchFamily="2" charset="2"/>
              <a:buChar char="§"/>
            </a:pPr>
            <a:r>
              <a:rPr altLang="en-US" dirty="0">
                <a:solidFill>
                  <a:schemeClr val="bg1"/>
                </a:solidFill>
              </a:rPr>
              <a:t>Modify existing columns</a:t>
            </a:r>
          </a:p>
          <a:p>
            <a:pPr marL="450850" lvl="3" indent="-285750">
              <a:buFont typeface="Wingdings" panose="05000000000000000000" pitchFamily="2" charset="2"/>
              <a:buChar char="§"/>
            </a:pPr>
            <a:r>
              <a:rPr altLang="en-US" dirty="0">
                <a:solidFill>
                  <a:schemeClr val="bg1"/>
                </a:solidFill>
              </a:rPr>
              <a:t>Define default values for new columns</a:t>
            </a:r>
          </a:p>
          <a:p>
            <a:pPr marL="450850" lvl="3" indent="-285750">
              <a:buFont typeface="Wingdings" panose="05000000000000000000" pitchFamily="2" charset="2"/>
              <a:buChar char="§"/>
            </a:pPr>
            <a:r>
              <a:rPr altLang="en-US" dirty="0">
                <a:solidFill>
                  <a:schemeClr val="bg1"/>
                </a:solidFill>
              </a:rPr>
              <a:t>Drop a column</a:t>
            </a:r>
          </a:p>
          <a:p>
            <a:pPr lvl="1"/>
            <a:endParaRPr altLang="en-US" sz="1600" dirty="0"/>
          </a:p>
          <a:p>
            <a:pPr lvl="1"/>
            <a:endParaRPr altLang="en-US" sz="1600" dirty="0"/>
          </a:p>
          <a:p>
            <a:pPr lvl="1"/>
            <a:endParaRPr altLang="en-US" sz="1600" dirty="0"/>
          </a:p>
          <a:p>
            <a:pPr lvl="1"/>
            <a:endParaRPr altLang="en-US" sz="1600" dirty="0"/>
          </a:p>
          <a:p>
            <a:pPr lvl="1"/>
            <a:endParaRPr altLang="en-US" sz="1600" dirty="0"/>
          </a:p>
          <a:p>
            <a:pPr lvl="1"/>
            <a:endParaRPr altLang="en-US" sz="1600" dirty="0"/>
          </a:p>
          <a:p>
            <a:pPr>
              <a:buFont typeface="Wingdings" panose="05000000000000000000" pitchFamily="2" charset="2"/>
              <a:buNone/>
            </a:pPr>
            <a:endParaRPr altLang="en-US" sz="1800" dirty="0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685800" y="3657600"/>
            <a:ext cx="7924800" cy="2057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ALTER TABLE 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t_name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           ADD | MODIFY (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column datatype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[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DEFAULT EXPR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])</a:t>
            </a:r>
          </a:p>
          <a:p>
            <a:pPr>
              <a:buNone/>
            </a:pPr>
            <a:endParaRPr lang="en-US" altLang="en-US" sz="2200" b="0" dirty="0">
              <a:solidFill>
                <a:schemeClr val="accent4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ALTER TABLE 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t_name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DROP (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column)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02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Guidelines to ALTER TABLE</a:t>
            </a:r>
            <a:br>
              <a:rPr lang="en-US" altLang="en-US" dirty="0"/>
            </a:br>
            <a:endParaRPr altLang="en-US" dirty="0"/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4800" y="914400"/>
            <a:ext cx="8839200" cy="5638800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2"/>
                </a:solidFill>
              </a:rPr>
              <a:t>Only one column can be dropped at a time</a:t>
            </a:r>
          </a:p>
          <a:p>
            <a:endParaRPr altLang="en-US" sz="2000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2"/>
                </a:solidFill>
              </a:rPr>
              <a:t>The table must have at least one column remaining, after it is altered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bg2"/>
                </a:solidFill>
              </a:rPr>
              <a:t>	</a:t>
            </a:r>
          </a:p>
          <a:p>
            <a:pPr marL="457200" lvl="1" indent="0">
              <a:buNone/>
            </a:pPr>
            <a:endParaRPr lang="en-US" altLang="en-US" sz="2000" dirty="0">
              <a:solidFill>
                <a:schemeClr val="bg2"/>
              </a:solidFill>
            </a:endParaRPr>
          </a:p>
          <a:p>
            <a:pPr marL="457200" lvl="1" indent="0">
              <a:buNone/>
            </a:pPr>
            <a:endParaRPr altLang="en-US" sz="2000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bg2"/>
                </a:solidFill>
              </a:rPr>
              <a:t>Allow to </a:t>
            </a:r>
            <a:r>
              <a:rPr altLang="en-US" sz="2000" dirty="0">
                <a:solidFill>
                  <a:schemeClr val="bg2"/>
                </a:solidFill>
              </a:rPr>
              <a:t>decrease </a:t>
            </a:r>
            <a:r>
              <a:rPr lang="en-US" altLang="en-US" sz="2000" dirty="0">
                <a:solidFill>
                  <a:schemeClr val="bg2"/>
                </a:solidFill>
              </a:rPr>
              <a:t>column width </a:t>
            </a:r>
            <a:r>
              <a:rPr altLang="en-US" sz="2000" dirty="0">
                <a:solidFill>
                  <a:schemeClr val="bg2"/>
                </a:solidFill>
              </a:rPr>
              <a:t>only if the column has no values</a:t>
            </a:r>
          </a:p>
          <a:p>
            <a:pPr>
              <a:buFont typeface="Wingdings" panose="05000000000000000000" pitchFamily="2" charset="2"/>
              <a:buChar char="§"/>
            </a:pPr>
            <a:endParaRPr altLang="en-US" sz="2000" dirty="0">
              <a:solidFill>
                <a:schemeClr val="bg2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590800"/>
            <a:ext cx="7092350" cy="533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 marL="457200" lvl="1" indent="0" eaLnBrk="1" hangingPunct="1">
              <a:spcBef>
                <a:spcPct val="0"/>
              </a:spcBef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ALTER TABLE 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Employee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modify (</a:t>
            </a:r>
            <a:r>
              <a:rPr lang="en-US" altLang="en-US" sz="2200" b="0" dirty="0" err="1">
                <a:solidFill>
                  <a:srgbClr val="D8750D"/>
                </a:solidFill>
                <a:ea typeface="+mn-ea"/>
                <a:cs typeface="+mn-cs"/>
              </a:rPr>
              <a:t>e_code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char(7));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5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Alter constraints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ALTER TABLE statement used to add or drop a constraint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Not null constraints can only be added using ALTER TABLE MODIFY clause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Constraint can be </a:t>
            </a:r>
            <a:r>
              <a:rPr lang="en-US" altLang="en-US" sz="2000" dirty="0">
                <a:solidFill>
                  <a:schemeClr val="bg1"/>
                </a:solidFill>
              </a:rPr>
              <a:t>enabled</a:t>
            </a:r>
            <a:r>
              <a:rPr altLang="en-US" sz="2000" dirty="0">
                <a:solidFill>
                  <a:schemeClr val="bg1"/>
                </a:solidFill>
              </a:rPr>
              <a:t> or </a:t>
            </a:r>
            <a:r>
              <a:rPr lang="en-US" altLang="en-US" sz="2000" dirty="0">
                <a:solidFill>
                  <a:schemeClr val="bg1"/>
                </a:solidFill>
              </a:rPr>
              <a:t>d</a:t>
            </a:r>
            <a:r>
              <a:rPr altLang="en-US" sz="2000" dirty="0">
                <a:solidFill>
                  <a:schemeClr val="bg1"/>
                </a:solidFill>
              </a:rPr>
              <a:t>isabled</a:t>
            </a:r>
            <a:endParaRPr lang="en-US"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altLang="en-US" sz="2000" dirty="0">
                <a:solidFill>
                  <a:schemeClr val="bg1"/>
                </a:solidFill>
              </a:rPr>
              <a:t>          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00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Lend a hand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Alter the Employee table created adding following constraints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altLang="en-US" sz="2000" dirty="0">
                <a:solidFill>
                  <a:schemeClr val="bg1"/>
                </a:solidFill>
              </a:rPr>
              <a:t>             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7455" y="1524000"/>
            <a:ext cx="8343900" cy="40385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buNone/>
            </a:pPr>
            <a:endParaRPr lang="en-US" altLang="en-US" sz="2200" b="0" dirty="0">
              <a:solidFill>
                <a:schemeClr val="accent4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  <a:p>
            <a:pPr>
              <a:buNone/>
            </a:pPr>
            <a:endParaRPr lang="en-US" altLang="en-US" sz="2200" b="0" dirty="0">
              <a:solidFill>
                <a:schemeClr val="accent4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ALTER TABLE 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Employee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add constraint chk_sal 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			check (e_salary &gt; 0);</a:t>
            </a:r>
          </a:p>
          <a:p>
            <a:pPr>
              <a:buNone/>
            </a:pPr>
            <a:endParaRPr lang="en-US" altLang="en-US" sz="2200" b="0" dirty="0">
              <a:solidFill>
                <a:schemeClr val="accent4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ALTER TABLE 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Employee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add constraint uq_mail unique( e_mail );</a:t>
            </a:r>
          </a:p>
          <a:p>
            <a:pPr>
              <a:buNone/>
            </a:pPr>
            <a:endParaRPr lang="en-US" altLang="en-US" sz="2200" b="0" dirty="0">
              <a:solidFill>
                <a:schemeClr val="accent4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ALTER TABLE 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Employee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 add constraint pk_ecode</a:t>
            </a:r>
          </a:p>
          <a:p>
            <a:pPr>
              <a:buNone/>
            </a:pP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		 primary key(e_code);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200" b="0" dirty="0">
              <a:solidFill>
                <a:schemeClr val="accent4">
                  <a:lumMod val="60000"/>
                  <a:lumOff val="40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135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Dropping a Table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DROP table command is used to drop the table structure from the 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All data and the structure in the table gets deleted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89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800" dirty="0"/>
              <a:t>Drop table structure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altLang="en-US" sz="2000" dirty="0">
                <a:solidFill>
                  <a:schemeClr val="bg1"/>
                </a:solidFill>
              </a:rPr>
              <a:t>Only the creator of the table or a user with DROP ANY TABLE privilege can remove a table</a:t>
            </a:r>
          </a:p>
          <a:p>
            <a:pPr marL="1587" lvl="1" indent="0">
              <a:lnSpc>
                <a:spcPct val="150000"/>
              </a:lnSpc>
              <a:buNone/>
            </a:pPr>
            <a:r>
              <a:rPr lang="en-US" altLang="en-US" sz="2000" b="1" dirty="0">
                <a:solidFill>
                  <a:schemeClr val="bg1"/>
                </a:solidFill>
              </a:rPr>
              <a:t>	</a:t>
            </a:r>
            <a:endParaRPr altLang="en-US" sz="24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14400" y="3200400"/>
            <a:ext cx="4800600" cy="5790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4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rgbClr val="40404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chemeClr val="accent4">
                    <a:lumMod val="75000"/>
                  </a:schemeClr>
                </a:solidFill>
              </a:rPr>
              <a:t>       </a:t>
            </a:r>
            <a:r>
              <a:rPr lang="en-US" altLang="en-US" sz="2200" b="0" dirty="0">
                <a:solidFill>
                  <a:schemeClr val="accent4">
                    <a:lumMod val="60000"/>
                    <a:lumOff val="40000"/>
                  </a:schemeClr>
                </a:solidFill>
                <a:ea typeface="+mn-ea"/>
                <a:cs typeface="+mn-cs"/>
              </a:rPr>
              <a:t>Drop table </a:t>
            </a:r>
            <a:r>
              <a:rPr lang="en-US" altLang="en-US" sz="2200" b="0" dirty="0">
                <a:solidFill>
                  <a:srgbClr val="D8750D"/>
                </a:solidFill>
                <a:ea typeface="+mn-ea"/>
                <a:cs typeface="+mn-cs"/>
              </a:rPr>
              <a:t>Employee</a:t>
            </a:r>
            <a:r>
              <a:rPr lang="en-US" altLang="en-US" sz="1600" dirty="0">
                <a:solidFill>
                  <a:srgbClr val="D8750D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4054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cademy LCD Compliant Template">
  <a:themeElements>
    <a:clrScheme name="Cognizant">
      <a:dk1>
        <a:srgbClr val="50B3CF"/>
      </a:dk1>
      <a:lt1>
        <a:sysClr val="window" lastClr="FFFFFF"/>
      </a:lt1>
      <a:dk2>
        <a:srgbClr val="141414"/>
      </a:dk2>
      <a:lt2>
        <a:srgbClr val="FFFFFF"/>
      </a:lt2>
      <a:accent1>
        <a:srgbClr val="50B3CF"/>
      </a:accent1>
      <a:accent2>
        <a:srgbClr val="6DB33F"/>
      </a:accent2>
      <a:accent3>
        <a:srgbClr val="72CDF4"/>
      </a:accent3>
      <a:accent4>
        <a:srgbClr val="00728F"/>
      </a:accent4>
      <a:accent5>
        <a:srgbClr val="387C2C"/>
      </a:accent5>
      <a:accent6>
        <a:srgbClr val="DF7A1C"/>
      </a:accent6>
      <a:hlink>
        <a:srgbClr val="D36522"/>
      </a:hlink>
      <a:folHlink>
        <a:srgbClr val="66C2E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gnizant">
        <a:dk1>
          <a:srgbClr val="50B3CF"/>
        </a:dk1>
        <a:lt1>
          <a:sysClr val="window" lastClr="FFFFFF"/>
        </a:lt1>
        <a:dk2>
          <a:srgbClr val="141414"/>
        </a:dk2>
        <a:lt2>
          <a:srgbClr val="FFFFFF"/>
        </a:lt2>
        <a:accent1>
          <a:srgbClr val="50B3CF"/>
        </a:accent1>
        <a:accent2>
          <a:srgbClr val="6DB33F"/>
        </a:accent2>
        <a:accent3>
          <a:srgbClr val="72CDF4"/>
        </a:accent3>
        <a:accent4>
          <a:srgbClr val="00728F"/>
        </a:accent4>
        <a:accent5>
          <a:srgbClr val="387C2C"/>
        </a:accent5>
        <a:accent6>
          <a:srgbClr val="DF7A1C"/>
        </a:accent6>
        <a:hlink>
          <a:srgbClr val="D36522"/>
        </a:hlink>
        <a:folHlink>
          <a:srgbClr val="66C2EF"/>
        </a:folHlink>
      </a:clrScheme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gnizant">
    <a:dk1>
      <a:srgbClr val="50B3CF"/>
    </a:dk1>
    <a:lt1>
      <a:sysClr val="window" lastClr="FFFFFF"/>
    </a:lt1>
    <a:dk2>
      <a:srgbClr val="141414"/>
    </a:dk2>
    <a:lt2>
      <a:srgbClr val="FFFFFF"/>
    </a:lt2>
    <a:accent1>
      <a:srgbClr val="50B3CF"/>
    </a:accent1>
    <a:accent2>
      <a:srgbClr val="6DB33F"/>
    </a:accent2>
    <a:accent3>
      <a:srgbClr val="72CDF4"/>
    </a:accent3>
    <a:accent4>
      <a:srgbClr val="00728F"/>
    </a:accent4>
    <a:accent5>
      <a:srgbClr val="387C2C"/>
    </a:accent5>
    <a:accent6>
      <a:srgbClr val="DF7A1C"/>
    </a:accent6>
    <a:hlink>
      <a:srgbClr val="D36522"/>
    </a:hlink>
    <a:folHlink>
      <a:srgbClr val="66C2E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LongProperties xmlns="http://schemas.microsoft.com/office/2006/metadata/longPropertie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39C2D19CB1EB4EB957C296FF889379" ma:contentTypeVersion="46" ma:contentTypeDescription="Create a new document." ma:contentTypeScope="" ma:versionID="d76e7b19da747d2797abee5bd65afe53">
  <xsd:schema xmlns:xsd="http://www.w3.org/2001/XMLSchema" xmlns:xs="http://www.w3.org/2001/XMLSchema" xmlns:p="http://schemas.microsoft.com/office/2006/metadata/properties" xmlns:ns2="05686ec9-621b-4d4e-b044-e44970800757" targetNamespace="http://schemas.microsoft.com/office/2006/metadata/properties" ma:root="true" ma:fieldsID="6706f00be75213024a94f9e90a3ca398" ns2:_="">
    <xsd:import namespace="05686ec9-621b-4d4e-b044-e44970800757"/>
    <xsd:element name="properties">
      <xsd:complexType>
        <xsd:sequence>
          <xsd:element name="documentManagement">
            <xsd:complexType>
              <xsd:all>
                <xsd:element ref="ns2:AccountID" minOccurs="0"/>
                <xsd:element ref="ns2:ProjectID" minOccurs="0"/>
                <xsd:element ref="ns2:SubProjectID" minOccurs="0"/>
                <xsd:element ref="ns2:AssociateID" minOccurs="0"/>
                <xsd:element ref="ns2:Role" minOccurs="0"/>
                <xsd:element ref="ns2:CreatedTime" minOccurs="0"/>
                <xsd:element ref="ns2:Processes" minOccurs="0"/>
                <xsd:element ref="ns2:Phase" minOccurs="0"/>
                <xsd:element ref="ns2:Activities" minOccurs="0"/>
                <xsd:element ref="ns2:Releases" minOccurs="0"/>
                <xsd:element ref="ns2:Functional_x0020_Modules" minOccurs="0"/>
                <xsd:element ref="ns2:Functional_x0020_Module2" minOccurs="0"/>
                <xsd:element ref="ns2:Functional_x0020_Module3" minOccurs="0"/>
                <xsd:element ref="ns2:ViewCount" minOccurs="0"/>
                <xsd:element ref="ns2:CheckedOutPath" minOccurs="0"/>
                <xsd:element ref="ns2:ApprovalStatus" minOccurs="0"/>
                <xsd:element ref="ns2:Work_x0020_request" minOccurs="0"/>
                <xsd:element ref="ns2:Tags" minOccurs="0"/>
                <xsd:element ref="ns2:ArtifactStatus" minOccurs="0"/>
                <xsd:element ref="ns2:UnmappedDocuments" minOccurs="0"/>
                <xsd:element ref="ns2:CopySource" minOccurs="0"/>
                <xsd:element ref="ns2:CopyToPath" minOccurs="0"/>
                <xsd:element ref="ns2:Comments" minOccurs="0"/>
                <xsd:element ref="ns2:Rating1" minOccurs="0"/>
                <xsd:element ref="ns2:Rating2" minOccurs="0"/>
                <xsd:element ref="ns2:Rating3" minOccurs="0"/>
                <xsd:element ref="ns2:Rating4" minOccurs="0"/>
                <xsd:element ref="ns2:Rating5" minOccurs="0"/>
                <xsd:element ref="ns2:ClientSupplied" minOccurs="0"/>
                <xsd:element ref="ns2:LatestDownloads" minOccurs="0"/>
                <xsd:element ref="ns2:BaselinedVersions" minOccurs="0"/>
                <xsd:element ref="ns2:AverageRating" minOccurs="0"/>
                <xsd:element ref="ns2:ReasonforRejection" minOccurs="0"/>
                <xsd:element ref="ns2:FolderId" minOccurs="0"/>
                <xsd:element ref="ns2:FolderPath" minOccurs="0"/>
                <xsd:element ref="ns2:MBID" minOccurs="0"/>
                <xsd:element ref="ns2:_x0043_M1" minOccurs="0"/>
                <xsd:element ref="ns2:_x0043_M2" minOccurs="0"/>
                <xsd:element ref="ns2:_x0043_M3" minOccurs="0"/>
                <xsd:element ref="ns2:_x0043_M4" minOccurs="0"/>
                <xsd:element ref="ns2:_x0043_M5" minOccurs="0"/>
                <xsd:element ref="ns2:_x0043_M6" minOccurs="0"/>
                <xsd:element ref="ns2:_x0043_M7" minOccurs="0"/>
                <xsd:element ref="ns2:_x0043_M8" minOccurs="0"/>
                <xsd:element ref="ns2:_x0043_M9" minOccurs="0"/>
                <xsd:element ref="ns2:_x0043_M1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686ec9-621b-4d4e-b044-e44970800757" elementFormDefault="qualified">
    <xsd:import namespace="http://schemas.microsoft.com/office/2006/documentManagement/types"/>
    <xsd:import namespace="http://schemas.microsoft.com/office/infopath/2007/PartnerControls"/>
    <xsd:element name="AccountID" ma:index="8" nillable="true" ma:displayName="AccountID" ma:internalName="AccountID">
      <xsd:simpleType>
        <xsd:restriction base="dms:Text"/>
      </xsd:simpleType>
    </xsd:element>
    <xsd:element name="ProjectID" ma:index="9" nillable="true" ma:displayName="ProjectID" ma:internalName="ProjectID">
      <xsd:simpleType>
        <xsd:restriction base="dms:Text"/>
      </xsd:simpleType>
    </xsd:element>
    <xsd:element name="SubProjectID" ma:index="10" nillable="true" ma:displayName="SubProjectID" ma:internalName="SubProjectID">
      <xsd:simpleType>
        <xsd:restriction base="dms:Text"/>
      </xsd:simpleType>
    </xsd:element>
    <xsd:element name="AssociateID" ma:index="11" nillable="true" ma:displayName="AssociateID" ma:internalName="AssociateID">
      <xsd:simpleType>
        <xsd:restriction base="dms:Text"/>
      </xsd:simpleType>
    </xsd:element>
    <xsd:element name="Role" ma:index="12" nillable="true" ma:displayName="Role" ma:internalName="Role">
      <xsd:simpleType>
        <xsd:restriction base="dms:Text"/>
      </xsd:simpleType>
    </xsd:element>
    <xsd:element name="CreatedTime" ma:index="13" nillable="true" ma:displayName="CreatedTime" ma:internalName="CreatedTime">
      <xsd:simpleType>
        <xsd:restriction base="dms:DateTime"/>
      </xsd:simpleType>
    </xsd:element>
    <xsd:element name="Processes" ma:index="14" nillable="true" ma:displayName="Processes" ma:internalName="Processes">
      <xsd:simpleType>
        <xsd:restriction base="dms:Text"/>
      </xsd:simpleType>
    </xsd:element>
    <xsd:element name="Phase" ma:index="15" nillable="true" ma:displayName="Phase" ma:internalName="Phase">
      <xsd:simpleType>
        <xsd:restriction base="dms:Text"/>
      </xsd:simpleType>
    </xsd:element>
    <xsd:element name="Activities" ma:index="16" nillable="true" ma:displayName="Activities" ma:internalName="Activities">
      <xsd:simpleType>
        <xsd:restriction base="dms:Text"/>
      </xsd:simpleType>
    </xsd:element>
    <xsd:element name="Releases" ma:index="17" nillable="true" ma:displayName="Releases" ma:internalName="Releases">
      <xsd:simpleType>
        <xsd:restriction base="dms:Text"/>
      </xsd:simpleType>
    </xsd:element>
    <xsd:element name="Functional_x0020_Modules" ma:index="18" nillable="true" ma:displayName="Functional Modules" ma:internalName="Functional_x0020_Modules">
      <xsd:simpleType>
        <xsd:restriction base="dms:Text"/>
      </xsd:simpleType>
    </xsd:element>
    <xsd:element name="Functional_x0020_Module2" ma:index="19" nillable="true" ma:displayName="Functional Module2" ma:internalName="Functional_x0020_Module2">
      <xsd:simpleType>
        <xsd:restriction base="dms:Text"/>
      </xsd:simpleType>
    </xsd:element>
    <xsd:element name="Functional_x0020_Module3" ma:index="20" nillable="true" ma:displayName="Functional Module3" ma:internalName="Functional_x0020_Module3">
      <xsd:simpleType>
        <xsd:restriction base="dms:Text"/>
      </xsd:simpleType>
    </xsd:element>
    <xsd:element name="ViewCount" ma:index="21" nillable="true" ma:displayName="ViewCount" ma:internalName="ViewCount">
      <xsd:simpleType>
        <xsd:restriction base="dms:Unknown"/>
      </xsd:simpleType>
    </xsd:element>
    <xsd:element name="CheckedOutPath" ma:index="22" nillable="true" ma:displayName="CheckedOutPath" ma:internalName="CheckedOutPath">
      <xsd:simpleType>
        <xsd:restriction base="dms:Text"/>
      </xsd:simpleType>
    </xsd:element>
    <xsd:element name="ApprovalStatus" ma:index="23" nillable="true" ma:displayName="ApprovalStatus" ma:internalName="ApprovalStatus">
      <xsd:simpleType>
        <xsd:restriction base="dms:Text"/>
      </xsd:simpleType>
    </xsd:element>
    <xsd:element name="Work_x0020_request" ma:index="24" nillable="true" ma:displayName="Work request" ma:internalName="Work_x0020_request">
      <xsd:simpleType>
        <xsd:restriction base="dms:Text"/>
      </xsd:simpleType>
    </xsd:element>
    <xsd:element name="Tags" ma:index="25" nillable="true" ma:displayName="Tags" ma:internalName="Tags">
      <xsd:simpleType>
        <xsd:restriction base="dms:Note">
          <xsd:maxLength value="255"/>
        </xsd:restriction>
      </xsd:simpleType>
    </xsd:element>
    <xsd:element name="ArtifactStatus" ma:index="26" nillable="true" ma:displayName="ArtifactStatus" ma:internalName="ArtifactStatus">
      <xsd:simpleType>
        <xsd:restriction base="dms:Text"/>
      </xsd:simpleType>
    </xsd:element>
    <xsd:element name="UnmappedDocuments" ma:index="27" nillable="true" ma:displayName="UnmappedDocuments" ma:internalName="UnmappedDocuments">
      <xsd:simpleType>
        <xsd:restriction base="dms:Text"/>
      </xsd:simpleType>
    </xsd:element>
    <xsd:element name="CopySource" ma:index="28" nillable="true" ma:displayName="CopySource" ma:internalName="CopySource">
      <xsd:simpleType>
        <xsd:restriction base="dms:Text"/>
      </xsd:simpleType>
    </xsd:element>
    <xsd:element name="CopyToPath" ma:index="29" nillable="true" ma:displayName="CopyToPath" ma:internalName="CopyToPath">
      <xsd:simpleType>
        <xsd:restriction base="dms:Text"/>
      </xsd:simpleType>
    </xsd:element>
    <xsd:element name="Comments" ma:index="30" nillable="true" ma:displayName="Comments" ma:internalName="Comments">
      <xsd:simpleType>
        <xsd:restriction base="dms:Note">
          <xsd:maxLength value="255"/>
        </xsd:restriction>
      </xsd:simpleType>
    </xsd:element>
    <xsd:element name="Rating1" ma:index="31" nillable="true" ma:displayName="Rating1" ma:internalName="Rating1">
      <xsd:simpleType>
        <xsd:restriction base="dms:Unknown"/>
      </xsd:simpleType>
    </xsd:element>
    <xsd:element name="Rating2" ma:index="32" nillable="true" ma:displayName="Rating2" ma:internalName="Rating2">
      <xsd:simpleType>
        <xsd:restriction base="dms:Unknown"/>
      </xsd:simpleType>
    </xsd:element>
    <xsd:element name="Rating3" ma:index="33" nillable="true" ma:displayName="Rating3" ma:internalName="Rating3">
      <xsd:simpleType>
        <xsd:restriction base="dms:Unknown"/>
      </xsd:simpleType>
    </xsd:element>
    <xsd:element name="Rating4" ma:index="34" nillable="true" ma:displayName="Rating4" ma:internalName="Rating4">
      <xsd:simpleType>
        <xsd:restriction base="dms:Unknown"/>
      </xsd:simpleType>
    </xsd:element>
    <xsd:element name="Rating5" ma:index="35" nillable="true" ma:displayName="Rating5" ma:internalName="Rating5">
      <xsd:simpleType>
        <xsd:restriction base="dms:Unknown"/>
      </xsd:simpleType>
    </xsd:element>
    <xsd:element name="ClientSupplied" ma:index="36" nillable="true" ma:displayName="ClientSupplied" ma:internalName="ClientSupplied">
      <xsd:simpleType>
        <xsd:restriction base="dms:Text"/>
      </xsd:simpleType>
    </xsd:element>
    <xsd:element name="LatestDownloads" ma:index="37" nillable="true" ma:displayName="LatestDownloads" ma:internalName="LatestDownloads">
      <xsd:simpleType>
        <xsd:restriction base="dms:DateTime"/>
      </xsd:simpleType>
    </xsd:element>
    <xsd:element name="BaselinedVersions" ma:index="38" nillable="true" ma:displayName="BaselinedVersions" ma:internalName="BaselinedVersions">
      <xsd:simpleType>
        <xsd:restriction base="dms:Text"/>
      </xsd:simpleType>
    </xsd:element>
    <xsd:element name="AverageRating" ma:index="39" nillable="true" ma:displayName="AverageRating" ma:internalName="AverageRating">
      <xsd:simpleType>
        <xsd:restriction base="dms:Text"/>
      </xsd:simpleType>
    </xsd:element>
    <xsd:element name="ReasonforRejection" ma:index="40" nillable="true" ma:displayName="ReasonforRejection" ma:internalName="ReasonforRejection">
      <xsd:simpleType>
        <xsd:restriction base="dms:Text"/>
      </xsd:simpleType>
    </xsd:element>
    <xsd:element name="FolderId" ma:index="41" nillable="true" ma:displayName="FolderId" ma:internalName="FolderId">
      <xsd:simpleType>
        <xsd:restriction base="dms:Text"/>
      </xsd:simpleType>
    </xsd:element>
    <xsd:element name="FolderPath" ma:index="42" nillable="true" ma:displayName="FolderPath" ma:internalName="FolderPath">
      <xsd:simpleType>
        <xsd:restriction base="dms:Text"/>
      </xsd:simpleType>
    </xsd:element>
    <xsd:element name="MBID" ma:index="43" nillable="true" ma:displayName="MBID" ma:internalName="MBID">
      <xsd:simpleType>
        <xsd:restriction base="dms:Text"/>
      </xsd:simpleType>
    </xsd:element>
    <xsd:element name="_x0043_M1" ma:index="44" nillable="true" ma:displayName="CM1" ma:internalName="_x0043_M1">
      <xsd:simpleType>
        <xsd:restriction base="dms:Text"/>
      </xsd:simpleType>
    </xsd:element>
    <xsd:element name="_x0043_M2" ma:index="45" nillable="true" ma:displayName="CM2" ma:internalName="_x0043_M2">
      <xsd:simpleType>
        <xsd:restriction base="dms:Text"/>
      </xsd:simpleType>
    </xsd:element>
    <xsd:element name="_x0043_M3" ma:index="46" nillable="true" ma:displayName="CM3" ma:internalName="_x0043_M3">
      <xsd:simpleType>
        <xsd:restriction base="dms:Text"/>
      </xsd:simpleType>
    </xsd:element>
    <xsd:element name="_x0043_M4" ma:index="47" nillable="true" ma:displayName="CM4" ma:internalName="_x0043_M4">
      <xsd:simpleType>
        <xsd:restriction base="dms:Text"/>
      </xsd:simpleType>
    </xsd:element>
    <xsd:element name="_x0043_M5" ma:index="48" nillable="true" ma:displayName="CM5" ma:internalName="_x0043_M5">
      <xsd:simpleType>
        <xsd:restriction base="dms:Text"/>
      </xsd:simpleType>
    </xsd:element>
    <xsd:element name="_x0043_M6" ma:index="49" nillable="true" ma:displayName="CM6" ma:internalName="_x0043_M6">
      <xsd:simpleType>
        <xsd:restriction base="dms:Text"/>
      </xsd:simpleType>
    </xsd:element>
    <xsd:element name="_x0043_M7" ma:index="50" nillable="true" ma:displayName="CM7" ma:internalName="_x0043_M7">
      <xsd:simpleType>
        <xsd:restriction base="dms:Text"/>
      </xsd:simpleType>
    </xsd:element>
    <xsd:element name="_x0043_M8" ma:index="51" nillable="true" ma:displayName="CM8" ma:internalName="_x0043_M8">
      <xsd:simpleType>
        <xsd:restriction base="dms:Text"/>
      </xsd:simpleType>
    </xsd:element>
    <xsd:element name="_x0043_M9" ma:index="52" nillable="true" ma:displayName="CM9" ma:internalName="_x0043_M9">
      <xsd:simpleType>
        <xsd:restriction base="dms:Text"/>
      </xsd:simpleType>
    </xsd:element>
    <xsd:element name="_x0043_M10" ma:index="53" nillable="true" ma:displayName="CM10" ma:internalName="_x0043_M10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ork_x0020_request xmlns="05686ec9-621b-4d4e-b044-e44970800757" xsi:nil="true"/>
    <_x0043_M4 xmlns="05686ec9-621b-4d4e-b044-e44970800757" xsi:nil="true"/>
    <ViewCount xmlns="05686ec9-621b-4d4e-b044-e44970800757">2</ViewCount>
    <Rating1 xmlns="05686ec9-621b-4d4e-b044-e44970800757" xsi:nil="true"/>
    <_x0043_M5 xmlns="05686ec9-621b-4d4e-b044-e44970800757" xsi:nil="true"/>
    <Rating2 xmlns="05686ec9-621b-4d4e-b044-e44970800757" xsi:nil="true"/>
    <ClientSupplied xmlns="05686ec9-621b-4d4e-b044-e44970800757" xsi:nil="true"/>
    <_x0043_M6 xmlns="05686ec9-621b-4d4e-b044-e44970800757" xsi:nil="true"/>
    <Rating3 xmlns="05686ec9-621b-4d4e-b044-e44970800757" xsi:nil="true"/>
    <_x0043_M7 xmlns="05686ec9-621b-4d4e-b044-e44970800757" xsi:nil="true"/>
    <CheckedOutPath xmlns="05686ec9-621b-4d4e-b044-e44970800757" xsi:nil="true"/>
    <ApprovalStatus xmlns="05686ec9-621b-4d4e-b044-e44970800757" xsi:nil="true"/>
    <MBID xmlns="05686ec9-621b-4d4e-b044-e44970800757" xsi:nil="true"/>
    <AssociateID xmlns="05686ec9-621b-4d4e-b044-e44970800757" xsi:nil="true"/>
    <ProjectID xmlns="05686ec9-621b-4d4e-b044-e44970800757" xsi:nil="true"/>
    <Releases xmlns="05686ec9-621b-4d4e-b044-e44970800757" xsi:nil="true"/>
    <UnmappedDocuments xmlns="05686ec9-621b-4d4e-b044-e44970800757" xsi:nil="true"/>
    <Comments xmlns="05686ec9-621b-4d4e-b044-e44970800757" xsi:nil="true"/>
    <Phase xmlns="05686ec9-621b-4d4e-b044-e44970800757" xsi:nil="true"/>
    <_x0043_M8 xmlns="05686ec9-621b-4d4e-b044-e44970800757" xsi:nil="true"/>
    <_x0043_M9 xmlns="05686ec9-621b-4d4e-b044-e44970800757" xsi:nil="true"/>
    <CreatedTime xmlns="05686ec9-621b-4d4e-b044-e44970800757" xsi:nil="true"/>
    <Activities xmlns="05686ec9-621b-4d4e-b044-e44970800757" xsi:nil="true"/>
    <CopySource xmlns="05686ec9-621b-4d4e-b044-e44970800757" xsi:nil="true"/>
    <SubProjectID xmlns="05686ec9-621b-4d4e-b044-e44970800757" xsi:nil="true"/>
    <Functional_x0020_Module3 xmlns="05686ec9-621b-4d4e-b044-e44970800757" xsi:nil="true"/>
    <CopyToPath xmlns="05686ec9-621b-4d4e-b044-e44970800757" xsi:nil="true"/>
    <BaselinedVersions xmlns="05686ec9-621b-4d4e-b044-e44970800757" xsi:nil="true"/>
    <_x0043_M10 xmlns="05686ec9-621b-4d4e-b044-e44970800757" xsi:nil="true"/>
    <Functional_x0020_Modules xmlns="05686ec9-621b-4d4e-b044-e44970800757" xsi:nil="true"/>
    <Functional_x0020_Module2 xmlns="05686ec9-621b-4d4e-b044-e44970800757" xsi:nil="true"/>
    <ArtifactStatus xmlns="05686ec9-621b-4d4e-b044-e44970800757" xsi:nil="true"/>
    <ReasonforRejection xmlns="05686ec9-621b-4d4e-b044-e44970800757" xsi:nil="true"/>
    <FolderPath xmlns="05686ec9-621b-4d4e-b044-e44970800757" xsi:nil="true"/>
    <Rating4 xmlns="05686ec9-621b-4d4e-b044-e44970800757" xsi:nil="true"/>
    <Rating5 xmlns="05686ec9-621b-4d4e-b044-e44970800757" xsi:nil="true"/>
    <_x0043_M1 xmlns="05686ec9-621b-4d4e-b044-e44970800757" xsi:nil="true"/>
    <Role xmlns="05686ec9-621b-4d4e-b044-e44970800757" xsi:nil="true"/>
    <Processes xmlns="05686ec9-621b-4d4e-b044-e44970800757" xsi:nil="true"/>
    <LatestDownloads xmlns="05686ec9-621b-4d4e-b044-e44970800757" xsi:nil="true"/>
    <FolderId xmlns="05686ec9-621b-4d4e-b044-e44970800757" xsi:nil="true"/>
    <_x0043_M2 xmlns="05686ec9-621b-4d4e-b044-e44970800757" xsi:nil="true"/>
    <AccountID xmlns="05686ec9-621b-4d4e-b044-e44970800757" xsi:nil="true"/>
    <Tags xmlns="05686ec9-621b-4d4e-b044-e44970800757" xsi:nil="true"/>
    <AverageRating xmlns="05686ec9-621b-4d4e-b044-e44970800757" xsi:nil="true"/>
    <_x0043_M3 xmlns="05686ec9-621b-4d4e-b044-e44970800757" xsi:nil="true"/>
  </documentManagement>
</p:properties>
</file>

<file path=customXml/itemProps1.xml><?xml version="1.0" encoding="utf-8"?>
<ds:datastoreItem xmlns:ds="http://schemas.openxmlformats.org/officeDocument/2006/customXml" ds:itemID="{67987515-83F9-4DCD-B34D-E5941B4F5709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2234CEAD-830E-4C8A-B349-0A0A2A68D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686ec9-621b-4d4e-b044-e449708007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84B07D-06BE-44C9-9968-498A0A3848E1}">
  <ds:schemaRefs>
    <ds:schemaRef ds:uri="http://purl.org/dc/dcmitype/"/>
    <ds:schemaRef ds:uri="05686ec9-621b-4d4e-b044-e44970800757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9419</TotalTime>
  <Words>2440</Words>
  <Application>Microsoft Macintosh PowerPoint</Application>
  <PresentationFormat>On-screen Show (4:3)</PresentationFormat>
  <Paragraphs>409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 Unicode MS</vt:lpstr>
      <vt:lpstr>Arial</vt:lpstr>
      <vt:lpstr>Cambria</vt:lpstr>
      <vt:lpstr>Verdana</vt:lpstr>
      <vt:lpstr>Wingdings</vt:lpstr>
      <vt:lpstr>Academy LCD Compliant Template</vt:lpstr>
      <vt:lpstr>PowerPoint Presentation</vt:lpstr>
      <vt:lpstr>Enabling Objectives</vt:lpstr>
      <vt:lpstr>Key Topics</vt:lpstr>
      <vt:lpstr>PowerPoint Presentation</vt:lpstr>
      <vt:lpstr>Data Definition Language</vt:lpstr>
      <vt:lpstr>Guidelines for creating table </vt:lpstr>
      <vt:lpstr>Guidelines for creating table </vt:lpstr>
      <vt:lpstr>Data Types</vt:lpstr>
      <vt:lpstr>Common Data Types (MySQL versions)</vt:lpstr>
      <vt:lpstr>Lend a hand</vt:lpstr>
      <vt:lpstr>PowerPoint Presentation</vt:lpstr>
      <vt:lpstr>Constraints</vt:lpstr>
      <vt:lpstr>Constraints Types</vt:lpstr>
      <vt:lpstr>Not Null constraint</vt:lpstr>
      <vt:lpstr>Unique Constraint</vt:lpstr>
      <vt:lpstr>Primary Key Constraint</vt:lpstr>
      <vt:lpstr>Primary Key Constraint</vt:lpstr>
      <vt:lpstr>Foreign Key Constraint</vt:lpstr>
      <vt:lpstr>Foreign Key Constraint</vt:lpstr>
      <vt:lpstr>Foreign Key Constraint</vt:lpstr>
      <vt:lpstr>Check Constraint</vt:lpstr>
      <vt:lpstr>PowerPoint Presentation</vt:lpstr>
      <vt:lpstr>Alter Table</vt:lpstr>
      <vt:lpstr>Guidelines to ALTER TABLE </vt:lpstr>
      <vt:lpstr>Alter constraints</vt:lpstr>
      <vt:lpstr>Lend a hand</vt:lpstr>
      <vt:lpstr>Dropping a Table</vt:lpstr>
      <vt:lpstr>Drop table structure</vt:lpstr>
    </vt:vector>
  </TitlesOfParts>
  <Manager/>
  <Company>Cognizant Technology Solutions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add title</dc:title>
  <dc:subject/>
  <dc:creator>176361</dc:creator>
  <cp:keywords/>
  <dc:description/>
  <cp:lastModifiedBy>Gaffney, Michael (Cognizant)</cp:lastModifiedBy>
  <cp:revision>389</cp:revision>
  <dcterms:created xsi:type="dcterms:W3CDTF">2006-08-07T10:58:16Z</dcterms:created>
  <dcterms:modified xsi:type="dcterms:W3CDTF">2020-10-09T13:40:14Z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Cognizant Academy</vt:lpwstr>
  </property>
  <property fmtid="{D5CDD505-2E9C-101B-9397-08002B2CF9AE}" pid="3" name="ContentTypeId">
    <vt:lpwstr>0x0101007B39C2D19CB1EB4EB957C296FF889379</vt:lpwstr>
  </property>
</Properties>
</file>